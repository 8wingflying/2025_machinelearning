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75" r:id="rId4"/>
    <p:sldId id="273" r:id="rId5"/>
    <p:sldId id="302" r:id="rId6"/>
    <p:sldId id="301" r:id="rId7"/>
    <p:sldId id="274" r:id="rId8"/>
    <p:sldId id="303" r:id="rId9"/>
    <p:sldId id="304" r:id="rId10"/>
    <p:sldId id="283" r:id="rId11"/>
    <p:sldId id="271" r:id="rId12"/>
    <p:sldId id="272" r:id="rId13"/>
    <p:sldId id="284" r:id="rId14"/>
    <p:sldId id="300" r:id="rId15"/>
    <p:sldId id="288" r:id="rId16"/>
    <p:sldId id="289" r:id="rId17"/>
    <p:sldId id="286" r:id="rId18"/>
    <p:sldId id="285" r:id="rId19"/>
    <p:sldId id="287" r:id="rId20"/>
    <p:sldId id="270" r:id="rId21"/>
    <p:sldId id="276" r:id="rId22"/>
    <p:sldId id="278" r:id="rId23"/>
    <p:sldId id="279" r:id="rId24"/>
    <p:sldId id="277" r:id="rId25"/>
    <p:sldId id="281" r:id="rId26"/>
    <p:sldId id="257" r:id="rId27"/>
    <p:sldId id="282" r:id="rId28"/>
    <p:sldId id="269" r:id="rId29"/>
    <p:sldId id="290" r:id="rId30"/>
    <p:sldId id="308" r:id="rId31"/>
    <p:sldId id="309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265" r:id="rId42"/>
    <p:sldId id="266" r:id="rId43"/>
    <p:sldId id="263" r:id="rId44"/>
    <p:sldId id="260" r:id="rId45"/>
    <p:sldId id="262" r:id="rId46"/>
    <p:sldId id="261" r:id="rId47"/>
    <p:sldId id="264" r:id="rId48"/>
    <p:sldId id="307" r:id="rId49"/>
    <p:sldId id="267" r:id="rId50"/>
    <p:sldId id="268" r:id="rId51"/>
    <p:sldId id="305" r:id="rId5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1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35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88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16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31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64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1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30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13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918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3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36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FC955-16A9-4063-88B4-2BB8F99ABAD0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D9E50-1307-4E39-89C5-38CD24F6C8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06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線性代數與機器學習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253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線性代數常用</a:t>
            </a:r>
            <a:r>
              <a:rPr lang="zh-TW" altLang="en-US" dirty="0" smtClean="0"/>
              <a:t>工具</a:t>
            </a:r>
            <a:endParaRPr lang="en-US" altLang="zh-TW" dirty="0" smtClean="0"/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代數主題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機器學習中的線性代數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5483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0601" y="400929"/>
            <a:ext cx="7886700" cy="656714"/>
          </a:xfrm>
        </p:spPr>
        <p:txBody>
          <a:bodyPr>
            <a:normAutofit fontScale="90000"/>
          </a:bodyPr>
          <a:lstStyle/>
          <a:p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線性代數常用</a:t>
            </a:r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工具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805384"/>
              </p:ext>
            </p:extLst>
          </p:nvPr>
        </p:nvGraphicFramePr>
        <p:xfrm>
          <a:off x="410601" y="2226127"/>
          <a:ext cx="8395775" cy="1988820"/>
        </p:xfrm>
        <a:graphic>
          <a:graphicData uri="http://schemas.openxmlformats.org/drawingml/2006/table">
            <a:tbl>
              <a:tblPr/>
              <a:tblGrid>
                <a:gridCol w="1003202">
                  <a:extLst>
                    <a:ext uri="{9D8B030D-6E8A-4147-A177-3AD203B41FA5}">
                      <a16:colId xmlns:a16="http://schemas.microsoft.com/office/drawing/2014/main" val="2213018117"/>
                    </a:ext>
                  </a:extLst>
                </a:gridCol>
                <a:gridCol w="2159391">
                  <a:extLst>
                    <a:ext uri="{9D8B030D-6E8A-4147-A177-3AD203B41FA5}">
                      <a16:colId xmlns:a16="http://schemas.microsoft.com/office/drawing/2014/main" val="2935313281"/>
                    </a:ext>
                  </a:extLst>
                </a:gridCol>
                <a:gridCol w="2686929">
                  <a:extLst>
                    <a:ext uri="{9D8B030D-6E8A-4147-A177-3AD203B41FA5}">
                      <a16:colId xmlns:a16="http://schemas.microsoft.com/office/drawing/2014/main" val="796926921"/>
                    </a:ext>
                  </a:extLst>
                </a:gridCol>
                <a:gridCol w="2546253">
                  <a:extLst>
                    <a:ext uri="{9D8B030D-6E8A-4147-A177-3AD203B41FA5}">
                      <a16:colId xmlns:a16="http://schemas.microsoft.com/office/drawing/2014/main" val="3454128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套件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功能範圍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優點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適合場合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54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NumPy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基礎線性代數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輕量、快速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資料分析、統計運算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26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SciPy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進階數值線代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提供 </a:t>
                      </a:r>
                      <a:r>
                        <a:rPr lang="en-US" dirty="0">
                          <a:effectLst/>
                        </a:rPr>
                        <a:t>LU/QR/SVD/</a:t>
                      </a:r>
                      <a:r>
                        <a:rPr lang="en-US" dirty="0" err="1">
                          <a:effectLst/>
                        </a:rPr>
                        <a:t>Cholesky</a:t>
                      </a:r>
                      <a:endParaRPr lang="en-US" dirty="0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科學計算、工程分析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5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CuPy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GPU </a:t>
                      </a:r>
                      <a:r>
                        <a:rPr lang="zh-TW" altLang="en-US" dirty="0">
                          <a:effectLst/>
                        </a:rPr>
                        <a:t>加速版 </a:t>
                      </a:r>
                      <a:r>
                        <a:rPr lang="en-US" dirty="0" err="1">
                          <a:effectLst/>
                        </a:rPr>
                        <a:t>NumPy</a:t>
                      </a:r>
                      <a:endParaRPr lang="en-US" dirty="0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支援 </a:t>
                      </a:r>
                      <a:r>
                        <a:rPr lang="en-US" dirty="0">
                          <a:effectLst/>
                        </a:rPr>
                        <a:t>GPU </a:t>
                      </a:r>
                      <a:r>
                        <a:rPr lang="zh-TW" altLang="en-US" dirty="0">
                          <a:effectLst/>
                        </a:rPr>
                        <a:t>並行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大型矩陣運算、</a:t>
                      </a:r>
                      <a:r>
                        <a:rPr lang="en-US" altLang="zh-TW">
                          <a:effectLst/>
                        </a:rPr>
                        <a:t>AI </a:t>
                      </a:r>
                      <a:r>
                        <a:rPr lang="zh-TW" altLang="en-US">
                          <a:effectLst/>
                        </a:rPr>
                        <a:t>模型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438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JAX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向量化 </a:t>
                      </a:r>
                      <a:r>
                        <a:rPr lang="en-US" altLang="zh-TW">
                          <a:effectLst/>
                        </a:rPr>
                        <a:t>+ </a:t>
                      </a:r>
                      <a:r>
                        <a:rPr lang="zh-TW" altLang="en-US">
                          <a:effectLst/>
                        </a:rPr>
                        <a:t>自動微分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高效運算、梯度計算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深度學習、最佳化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65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SymPy</a:t>
                      </a:r>
                      <a:endParaRPr lang="en-US">
                        <a:effectLst/>
                      </a:endParaRP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符號運算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可得解析解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理論推導、教學研究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911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41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87235"/>
              </p:ext>
            </p:extLst>
          </p:nvPr>
        </p:nvGraphicFramePr>
        <p:xfrm>
          <a:off x="459838" y="1489771"/>
          <a:ext cx="7886700" cy="298323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608570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560288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5450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函式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功能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範例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6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np.dot(A,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矩陣乘法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np.dot(A,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94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np.transpose(A) </a:t>
                      </a:r>
                      <a:r>
                        <a:rPr lang="zh-TW" altLang="en-US">
                          <a:effectLst/>
                        </a:rPr>
                        <a:t>或 </a:t>
                      </a:r>
                      <a:r>
                        <a:rPr lang="en-US">
                          <a:effectLst/>
                        </a:rPr>
                        <a:t>A.T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轉置矩陣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A.T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44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np.linalg.inv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求反矩陣 </a:t>
                      </a:r>
                      <a:r>
                        <a:rPr lang="en-US" altLang="zh-TW">
                          <a:effectLst/>
                        </a:rPr>
                        <a:t>(</a:t>
                      </a:r>
                      <a:r>
                        <a:rPr lang="en-US">
                          <a:effectLst/>
                        </a:rPr>
                        <a:t>A^{-1})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np.linalg.inv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4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np.linalg.det(A)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行列式值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np.linalg.det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34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np.linalg.eig(A)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特徵值與特徵向量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w, v = </a:t>
                      </a:r>
                      <a:r>
                        <a:rPr lang="en-US" dirty="0" err="1">
                          <a:effectLst/>
                        </a:rPr>
                        <a:t>np.linalg.eig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142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np.linalg.svd(A)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奇異值分解 </a:t>
                      </a:r>
                      <a:r>
                        <a:rPr lang="en-US" altLang="zh-TW">
                          <a:effectLst/>
                        </a:rPr>
                        <a:t>(</a:t>
                      </a:r>
                      <a:r>
                        <a:rPr lang="en-US">
                          <a:effectLst/>
                        </a:rPr>
                        <a:t>SVD)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U, s, </a:t>
                      </a:r>
                      <a:r>
                        <a:rPr lang="en-US" dirty="0" err="1">
                          <a:effectLst/>
                        </a:rPr>
                        <a:t>Vt</a:t>
                      </a:r>
                      <a:r>
                        <a:rPr lang="en-US" dirty="0">
                          <a:effectLst/>
                        </a:rPr>
                        <a:t> = </a:t>
                      </a:r>
                      <a:r>
                        <a:rPr lang="en-US" dirty="0" err="1">
                          <a:effectLst/>
                        </a:rPr>
                        <a:t>np.linalg.svd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3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np.linalg.solve(A,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解線性方程組 </a:t>
                      </a:r>
                      <a:r>
                        <a:rPr lang="en-US" altLang="zh-TW">
                          <a:effectLst/>
                        </a:rPr>
                        <a:t>(Ax =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x = </a:t>
                      </a:r>
                      <a:r>
                        <a:rPr lang="en-US" dirty="0" err="1">
                          <a:effectLst/>
                        </a:rPr>
                        <a:t>np.linalg.solve</a:t>
                      </a:r>
                      <a:r>
                        <a:rPr lang="en-US" dirty="0">
                          <a:effectLst/>
                        </a:rPr>
                        <a:t>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454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np.trace(A)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主對角線元素總和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np.trace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49938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95571" y="353423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線性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代數常用工具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322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608" y="887495"/>
            <a:ext cx="507140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/>
              <a:t>《</a:t>
            </a:r>
            <a:r>
              <a:rPr lang="zh-CN" altLang="en-US" sz="3200" dirty="0" smtClean="0"/>
              <a:t>孫子算經</a:t>
            </a:r>
            <a:r>
              <a:rPr lang="en-US" altLang="zh-CN" sz="3200" dirty="0" smtClean="0"/>
              <a:t>》</a:t>
            </a:r>
            <a:r>
              <a:rPr lang="zh-CN" altLang="en-US" sz="3200" dirty="0" smtClean="0"/>
              <a:t>雞兔同籠問題：</a:t>
            </a:r>
            <a:endParaRPr lang="en-US" altLang="zh-CN" sz="3200" dirty="0" smtClean="0"/>
          </a:p>
          <a:p>
            <a:r>
              <a:rPr lang="zh-CN" altLang="en-US" sz="3200" dirty="0" smtClean="0"/>
              <a:t>“今有雉兔同籠，上有三十五頭，下有九十四足，問雉兔各幾何？”</a:t>
            </a:r>
            <a:endParaRPr lang="zh-TW" altLang="en-US" sz="32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290" y="770279"/>
            <a:ext cx="3533999" cy="196830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4" y="3037446"/>
            <a:ext cx="5530433" cy="137380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615" y="5302638"/>
            <a:ext cx="6788780" cy="114739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9028" y="4396004"/>
            <a:ext cx="211949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Ax = b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661182" y="5662246"/>
            <a:ext cx="562707" cy="4642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81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7113" y="963362"/>
            <a:ext cx="3840480" cy="489364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 smtClean="0"/>
              <a:t>import </a:t>
            </a:r>
            <a:r>
              <a:rPr lang="en-US" altLang="zh-TW" sz="2400" dirty="0" err="1" smtClean="0"/>
              <a:t>numpy</a:t>
            </a:r>
            <a:r>
              <a:rPr lang="en-US" altLang="zh-TW" sz="2400" dirty="0" smtClean="0"/>
              <a:t> as np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A = </a:t>
            </a:r>
            <a:r>
              <a:rPr lang="en-US" altLang="zh-TW" sz="2400" dirty="0" err="1" smtClean="0"/>
              <a:t>np.array</a:t>
            </a:r>
            <a:r>
              <a:rPr lang="en-US" altLang="zh-TW" sz="2400" dirty="0" smtClean="0"/>
              <a:t>([[2, 1], [1, 3]])</a:t>
            </a:r>
          </a:p>
          <a:p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np.array</a:t>
            </a:r>
            <a:r>
              <a:rPr lang="en-US" altLang="zh-TW" sz="2400" dirty="0" smtClean="0"/>
              <a:t>([1, 2])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# </a:t>
            </a:r>
            <a:r>
              <a:rPr lang="zh-TW" altLang="en-US" sz="2400" dirty="0" smtClean="0"/>
              <a:t>解 </a:t>
            </a:r>
            <a:r>
              <a:rPr lang="en-US" altLang="zh-TW" sz="2400" dirty="0" smtClean="0"/>
              <a:t>Ax = b</a:t>
            </a:r>
          </a:p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np.linalg.solve</a:t>
            </a:r>
            <a:r>
              <a:rPr lang="en-US" altLang="zh-TW" sz="2400" dirty="0" smtClean="0"/>
              <a:t>(A, b)</a:t>
            </a:r>
          </a:p>
          <a:p>
            <a:r>
              <a:rPr lang="en-US" altLang="zh-TW" sz="2400" dirty="0" smtClean="0"/>
              <a:t>print("x =", x)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# </a:t>
            </a:r>
            <a:r>
              <a:rPr lang="zh-TW" altLang="en-US" sz="2400" dirty="0" smtClean="0"/>
              <a:t>求特徵值與特徵向量</a:t>
            </a:r>
          </a:p>
          <a:p>
            <a:r>
              <a:rPr lang="en-US" altLang="zh-TW" sz="2400" dirty="0" smtClean="0"/>
              <a:t>w, v = </a:t>
            </a:r>
            <a:r>
              <a:rPr lang="en-US" altLang="zh-TW" sz="2400" dirty="0" err="1" smtClean="0"/>
              <a:t>np.linalg.eig</a:t>
            </a:r>
            <a:r>
              <a:rPr lang="en-US" altLang="zh-TW" sz="2400" dirty="0" smtClean="0"/>
              <a:t>(A)</a:t>
            </a:r>
          </a:p>
          <a:p>
            <a:r>
              <a:rPr lang="en-US" altLang="zh-TW" sz="2400" dirty="0" smtClean="0"/>
              <a:t>print("</a:t>
            </a:r>
            <a:r>
              <a:rPr lang="zh-TW" altLang="en-US" sz="2400" dirty="0" smtClean="0"/>
              <a:t>特徵值 </a:t>
            </a:r>
            <a:r>
              <a:rPr lang="en-US" altLang="zh-TW" sz="2400" dirty="0" smtClean="0"/>
              <a:t>=", w)</a:t>
            </a:r>
          </a:p>
          <a:p>
            <a:r>
              <a:rPr lang="en-US" altLang="zh-TW" sz="2400" dirty="0" smtClean="0"/>
              <a:t>print("</a:t>
            </a:r>
            <a:r>
              <a:rPr lang="zh-TW" altLang="en-US" sz="2400" dirty="0" smtClean="0"/>
              <a:t>特徵向量 </a:t>
            </a:r>
            <a:r>
              <a:rPr lang="en-US" altLang="zh-TW" sz="2400" dirty="0" smtClean="0"/>
              <a:t>=\n", v)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866335" y="3012217"/>
                <a:ext cx="2129044" cy="5821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TW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TW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335" y="3012217"/>
                <a:ext cx="2129044" cy="5821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3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30681"/>
              </p:ext>
            </p:extLst>
          </p:nvPr>
        </p:nvGraphicFramePr>
        <p:xfrm>
          <a:off x="368397" y="2172494"/>
          <a:ext cx="8283234" cy="2651760"/>
        </p:xfrm>
        <a:graphic>
          <a:graphicData uri="http://schemas.openxmlformats.org/drawingml/2006/table">
            <a:tbl>
              <a:tblPr/>
              <a:tblGrid>
                <a:gridCol w="2501412">
                  <a:extLst>
                    <a:ext uri="{9D8B030D-6E8A-4147-A177-3AD203B41FA5}">
                      <a16:colId xmlns:a16="http://schemas.microsoft.com/office/drawing/2014/main" val="137695501"/>
                    </a:ext>
                  </a:extLst>
                </a:gridCol>
                <a:gridCol w="3020744">
                  <a:extLst>
                    <a:ext uri="{9D8B030D-6E8A-4147-A177-3AD203B41FA5}">
                      <a16:colId xmlns:a16="http://schemas.microsoft.com/office/drawing/2014/main" val="319756668"/>
                    </a:ext>
                  </a:extLst>
                </a:gridCol>
                <a:gridCol w="2761078">
                  <a:extLst>
                    <a:ext uri="{9D8B030D-6E8A-4147-A177-3AD203B41FA5}">
                      <a16:colId xmlns:a16="http://schemas.microsoft.com/office/drawing/2014/main" val="9961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函式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功能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範例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853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scipy.linalg.inv(A)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反矩陣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la.inv(A)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58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scipy.linalg.det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行列式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la.det(A)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20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scipy.linalg.solve(A,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解線性系統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la.solve</a:t>
                      </a:r>
                      <a:r>
                        <a:rPr lang="en-US" dirty="0">
                          <a:effectLst/>
                        </a:rPr>
                        <a:t>(A, b)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scipy.linalg.lu(A)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LU </a:t>
                      </a:r>
                      <a:r>
                        <a:rPr lang="zh-TW" altLang="en-US">
                          <a:effectLst/>
                        </a:rPr>
                        <a:t>分解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P, L, U = la.lu(A)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0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scipy.linalg.qr(A)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QR </a:t>
                      </a:r>
                      <a:r>
                        <a:rPr lang="zh-TW" altLang="en-US">
                          <a:effectLst/>
                        </a:rPr>
                        <a:t>分解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Q, R = </a:t>
                      </a:r>
                      <a:r>
                        <a:rPr lang="en-US" dirty="0" err="1">
                          <a:effectLst/>
                        </a:rPr>
                        <a:t>la.qr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44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scipy.linalg.cholesky(A)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effectLst/>
                        </a:rPr>
                        <a:t>Cholesky </a:t>
                      </a:r>
                      <a:r>
                        <a:rPr lang="zh-TW" altLang="en-US">
                          <a:effectLst/>
                        </a:rPr>
                        <a:t>分解 </a:t>
                      </a:r>
                      <a:r>
                        <a:rPr lang="en-US" altLang="zh-TW">
                          <a:effectLst/>
                        </a:rPr>
                        <a:t>(</a:t>
                      </a:r>
                      <a:r>
                        <a:rPr lang="zh-TW" altLang="en-US">
                          <a:effectLst/>
                        </a:rPr>
                        <a:t>對稱正定矩陣</a:t>
                      </a:r>
                      <a:r>
                        <a:rPr lang="en-US" altLang="zh-TW">
                          <a:effectLst/>
                        </a:rPr>
                        <a:t>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 = </a:t>
                      </a:r>
                      <a:r>
                        <a:rPr lang="en-US" dirty="0" err="1">
                          <a:effectLst/>
                        </a:rPr>
                        <a:t>la.cholesky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02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scipy.linalg.eigh(A)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對稱矩陣特徵分解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w, v = </a:t>
                      </a:r>
                      <a:r>
                        <a:rPr lang="en-US" dirty="0" err="1">
                          <a:effectLst/>
                        </a:rPr>
                        <a:t>la.eigh</a:t>
                      </a:r>
                      <a:r>
                        <a:rPr lang="en-US" dirty="0">
                          <a:effectLst/>
                        </a:rPr>
                        <a:t>(A)</a:t>
                      </a:r>
                    </a:p>
                  </a:txBody>
                  <a:tcPr marL="61913" marR="61913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52040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95571" y="353423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線性</a:t>
            </a:r>
            <a:r>
              <a:rPr lang="zh-TW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代數常用工具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0239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9994" y="733422"/>
            <a:ext cx="3559126" cy="526297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 smtClean="0"/>
              <a:t>import </a:t>
            </a:r>
            <a:r>
              <a:rPr lang="en-US" altLang="zh-TW" sz="2400" dirty="0" err="1" smtClean="0"/>
              <a:t>numpy</a:t>
            </a:r>
            <a:r>
              <a:rPr lang="en-US" altLang="zh-TW" sz="2400" dirty="0" smtClean="0"/>
              <a:t> as np</a:t>
            </a:r>
          </a:p>
          <a:p>
            <a:r>
              <a:rPr lang="en-US" altLang="zh-TW" sz="2400" dirty="0" smtClean="0"/>
              <a:t>import </a:t>
            </a:r>
            <a:r>
              <a:rPr lang="en-US" altLang="zh-TW" sz="2400" dirty="0" err="1" smtClean="0"/>
              <a:t>scipy.linalg</a:t>
            </a:r>
            <a:r>
              <a:rPr lang="en-US" altLang="zh-TW" sz="2400" dirty="0" smtClean="0"/>
              <a:t> as la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A = </a:t>
            </a:r>
            <a:r>
              <a:rPr lang="en-US" altLang="zh-TW" sz="2400" dirty="0" err="1" smtClean="0"/>
              <a:t>np.array</a:t>
            </a:r>
            <a:r>
              <a:rPr lang="en-US" altLang="zh-TW" sz="2400" dirty="0" smtClean="0"/>
              <a:t>([[4, 2], [2, 3]])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# LU </a:t>
            </a:r>
            <a:r>
              <a:rPr lang="zh-TW" altLang="en-US" sz="2400" dirty="0" smtClean="0"/>
              <a:t>分解</a:t>
            </a:r>
          </a:p>
          <a:p>
            <a:r>
              <a:rPr lang="en-US" altLang="zh-TW" sz="2400" dirty="0" smtClean="0"/>
              <a:t>P, L, U = la.lu(A)</a:t>
            </a:r>
          </a:p>
          <a:p>
            <a:r>
              <a:rPr lang="en-US" altLang="zh-TW" sz="2400" dirty="0" smtClean="0"/>
              <a:t>print("L =\n", L)</a:t>
            </a:r>
          </a:p>
          <a:p>
            <a:r>
              <a:rPr lang="en-US" altLang="zh-TW" sz="2400" dirty="0" smtClean="0"/>
              <a:t>print("U =\n", U)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# QR </a:t>
            </a:r>
            <a:r>
              <a:rPr lang="zh-TW" altLang="en-US" sz="2400" dirty="0" smtClean="0"/>
              <a:t>分解</a:t>
            </a:r>
          </a:p>
          <a:p>
            <a:r>
              <a:rPr lang="en-US" altLang="zh-TW" sz="2400" dirty="0" smtClean="0"/>
              <a:t>Q, R = </a:t>
            </a:r>
            <a:r>
              <a:rPr lang="en-US" altLang="zh-TW" sz="2400" dirty="0" err="1" smtClean="0"/>
              <a:t>la.qr</a:t>
            </a:r>
            <a:r>
              <a:rPr lang="en-US" altLang="zh-TW" sz="2400" dirty="0" smtClean="0"/>
              <a:t>(A)</a:t>
            </a:r>
          </a:p>
          <a:p>
            <a:r>
              <a:rPr lang="en-US" altLang="zh-TW" sz="2400" dirty="0" smtClean="0"/>
              <a:t>print("Q =\n", Q)</a:t>
            </a:r>
          </a:p>
          <a:p>
            <a:r>
              <a:rPr lang="en-US" altLang="zh-TW" sz="2400" dirty="0" smtClean="0"/>
              <a:t>print("R =\n", R)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803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7366" y="826367"/>
            <a:ext cx="60209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 err="1" smtClean="0"/>
              <a:t>CuPy</a:t>
            </a:r>
            <a:r>
              <a:rPr lang="zh-TW" altLang="en-US" sz="2400" b="1" dirty="0" smtClean="0"/>
              <a:t>（</a:t>
            </a:r>
            <a:r>
              <a:rPr lang="en-US" altLang="zh-TW" sz="2400" b="1" dirty="0" smtClean="0"/>
              <a:t>GPU </a:t>
            </a:r>
            <a:r>
              <a:rPr lang="zh-TW" altLang="en-US" sz="2400" b="1" dirty="0" smtClean="0"/>
              <a:t>加速）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dirty="0" err="1" smtClean="0"/>
              <a:t>CuPy</a:t>
            </a:r>
            <a:r>
              <a:rPr lang="en-US" altLang="zh-TW" dirty="0" smtClean="0"/>
              <a:t> </a:t>
            </a:r>
            <a:r>
              <a:rPr lang="zh-TW" altLang="en-US" dirty="0" smtClean="0"/>
              <a:t>幾乎是 </a:t>
            </a:r>
            <a:r>
              <a:rPr lang="en-US" altLang="zh-TW" dirty="0" err="1" smtClean="0"/>
              <a:t>NumPy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GPU </a:t>
            </a:r>
            <a:r>
              <a:rPr lang="zh-TW" altLang="en-US" dirty="0" smtClean="0"/>
              <a:t>版本，語法幾乎一樣。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dirty="0" smtClean="0"/>
              <a:t>可直接把 </a:t>
            </a:r>
            <a:r>
              <a:rPr lang="en-US" altLang="zh-TW" dirty="0" err="1" smtClean="0"/>
              <a:t>NumPy</a:t>
            </a:r>
            <a:r>
              <a:rPr lang="en-US" altLang="zh-TW" dirty="0" smtClean="0"/>
              <a:t> </a:t>
            </a:r>
            <a:r>
              <a:rPr lang="zh-TW" altLang="en-US" dirty="0" smtClean="0"/>
              <a:t>代碼改成 </a:t>
            </a:r>
            <a:r>
              <a:rPr lang="en-US" altLang="zh-TW" dirty="0" err="1" smtClean="0"/>
              <a:t>CuPy</a:t>
            </a:r>
            <a:r>
              <a:rPr lang="en-US" altLang="zh-TW" dirty="0" smtClean="0"/>
              <a:t> </a:t>
            </a:r>
            <a:r>
              <a:rPr lang="zh-TW" altLang="en-US" dirty="0" smtClean="0"/>
              <a:t>即可加速矩陣運算。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907366" y="2627031"/>
            <a:ext cx="6246056" cy="224676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import </a:t>
            </a:r>
            <a:r>
              <a:rPr lang="en-US" altLang="zh-TW" sz="2800" dirty="0" err="1" smtClean="0"/>
              <a:t>cupy</a:t>
            </a:r>
            <a:r>
              <a:rPr lang="en-US" altLang="zh-TW" sz="2800" dirty="0" smtClean="0"/>
              <a:t> as </a:t>
            </a:r>
            <a:r>
              <a:rPr lang="en-US" altLang="zh-TW" sz="2800" dirty="0" err="1" smtClean="0"/>
              <a:t>cp</a:t>
            </a:r>
            <a:endParaRPr lang="en-US" altLang="zh-TW" sz="2800" dirty="0" smtClean="0"/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A = </a:t>
            </a:r>
            <a:r>
              <a:rPr lang="en-US" altLang="zh-TW" sz="2800" dirty="0" err="1" smtClean="0"/>
              <a:t>cp.random.rand</a:t>
            </a:r>
            <a:r>
              <a:rPr lang="en-US" altLang="zh-TW" sz="2800" dirty="0" smtClean="0"/>
              <a:t>(1000, 1000)</a:t>
            </a:r>
          </a:p>
          <a:p>
            <a:r>
              <a:rPr lang="en-US" altLang="zh-TW" sz="2800" dirty="0" smtClean="0"/>
              <a:t>B = </a:t>
            </a:r>
            <a:r>
              <a:rPr lang="en-US" altLang="zh-TW" sz="2800" dirty="0" err="1" smtClean="0"/>
              <a:t>cp.random.rand</a:t>
            </a:r>
            <a:r>
              <a:rPr lang="en-US" altLang="zh-TW" sz="2800" dirty="0" smtClean="0"/>
              <a:t>(1000, 1000)</a:t>
            </a:r>
          </a:p>
          <a:p>
            <a:r>
              <a:rPr lang="en-US" altLang="zh-TW" sz="2800" dirty="0" smtClean="0"/>
              <a:t>C = cp.dot(A, B)  # GPU </a:t>
            </a:r>
            <a:r>
              <a:rPr lang="zh-TW" altLang="en-US" sz="2800" dirty="0" smtClean="0"/>
              <a:t>加速矩陣乘法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9116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1364" y="189914"/>
            <a:ext cx="7886700" cy="684849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線性代數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1363" y="1269951"/>
            <a:ext cx="8536451" cy="4351338"/>
          </a:xfrm>
        </p:spPr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向量與向量運算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矩陣與矩陣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解線性方程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求特徵值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(eigenvalue)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與特徵向量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(eigenvector)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矩陣分解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557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67802" y="211015"/>
            <a:ext cx="7886700" cy="734086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Orthogonal 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Basis(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正交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7667" y="1360547"/>
            <a:ext cx="2011241" cy="193430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9" y="962185"/>
            <a:ext cx="4990142" cy="23714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79" y="3514355"/>
            <a:ext cx="5481095" cy="28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01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3217" y="199440"/>
            <a:ext cx="8046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假設有一組線性獨立向量：𝑣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𝑣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2,…,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𝑣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𝑛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如何找出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正交基底 𝑢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𝑢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2,…,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𝑢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𝑛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10335" y="707272"/>
            <a:ext cx="2812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Gram–</a:t>
            </a:r>
            <a:r>
              <a:rPr lang="en-US" altLang="zh-TW" sz="3600" dirty="0" err="1"/>
              <a:t>Schmid</a:t>
            </a:r>
            <a:endParaRPr lang="zh-TW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5" y="1459983"/>
            <a:ext cx="2850203" cy="489156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978" y="1604372"/>
            <a:ext cx="4150035" cy="487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09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2127" y="168814"/>
            <a:ext cx="3359541" cy="935500"/>
          </a:xfrm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(Matrix Operations)</a:t>
            </a:r>
            <a:endParaRPr lang="zh-TW" altLang="en-US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09" y="1249509"/>
            <a:ext cx="3815284" cy="519349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0"/>
            <a:ext cx="4023360" cy="67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1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F2F9230-667F-C854-2790-C5234D64E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315" y="3297760"/>
            <a:ext cx="8063329" cy="21333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B1319C6-DD70-D622-F9AD-1CE269C5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44" y="924071"/>
            <a:ext cx="2372560" cy="17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678" y="1127980"/>
            <a:ext cx="7944991" cy="5385361"/>
          </a:xfrm>
          <a:prstGeom prst="rect">
            <a:avLst/>
          </a:prstGeom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326195" y="267286"/>
            <a:ext cx="4632667" cy="748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</a:t>
            </a:r>
            <a:r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與矩陣運算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36" y="479584"/>
            <a:ext cx="3142978" cy="241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80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6195" y="267286"/>
            <a:ext cx="4632667" cy="748154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CNN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與矩陣運算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851" y="1015440"/>
            <a:ext cx="7224585" cy="56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7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線性</a:t>
            </a:r>
            <a:r>
              <a:rPr lang="zh-TW" altLang="en-US" dirty="0" smtClean="0"/>
              <a:t>方程式與非線性方程式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838141"/>
            <a:ext cx="2826746" cy="120631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732" y="2664728"/>
            <a:ext cx="3772196" cy="12249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7452" y="5673189"/>
            <a:ext cx="5999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https://textbooks.math.gatech.edu/ila/systems-of-eqns.html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2290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5518" y="160275"/>
            <a:ext cx="7886700" cy="829405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解線性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方程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==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矩陣型式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80" y="1405691"/>
            <a:ext cx="3549628" cy="146161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35281" y="3750770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 smtClean="0"/>
              <a:t>使用</a:t>
            </a:r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增廣矩陣</a:t>
            </a:r>
            <a:r>
              <a:rPr lang="zh-TW" altLang="en-US" sz="2400" dirty="0"/>
              <a:t>取代線性方程組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81" y="4382978"/>
            <a:ext cx="7322199" cy="132251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15330" y="6010813"/>
            <a:ext cx="5971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https://textbooks.math.gatech.edu/ila/row-reduction.html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806" y="1428648"/>
            <a:ext cx="3933196" cy="1509711"/>
          </a:xfrm>
          <a:prstGeom prst="rect">
            <a:avLst/>
          </a:prstGeom>
        </p:spPr>
      </p:pic>
      <p:sp>
        <p:nvSpPr>
          <p:cNvPr id="9" name="向右箭號 8"/>
          <p:cNvSpPr/>
          <p:nvPr/>
        </p:nvSpPr>
        <p:spPr>
          <a:xfrm>
            <a:off x="4128868" y="1856935"/>
            <a:ext cx="702938" cy="506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333" y="1026536"/>
            <a:ext cx="2035210" cy="41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07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575" y="104933"/>
            <a:ext cx="7886700" cy="978339"/>
          </a:xfrm>
        </p:spPr>
        <p:txBody>
          <a:bodyPr/>
          <a:lstStyle/>
          <a:p>
            <a:r>
              <a:rPr lang="zh-TW" altLang="en-US" dirty="0"/>
              <a:t>線性方程組解的參數形式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77" t="13099"/>
          <a:stretch/>
        </p:blipFill>
        <p:spPr>
          <a:xfrm>
            <a:off x="119575" y="1357532"/>
            <a:ext cx="3059724" cy="87466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86" y="2448563"/>
            <a:ext cx="7364548" cy="263624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311" y="1270814"/>
            <a:ext cx="2474893" cy="1034030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3235569" y="1549158"/>
            <a:ext cx="640080" cy="470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094" y="3138485"/>
            <a:ext cx="1447811" cy="58102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829" y="1343465"/>
            <a:ext cx="2347993" cy="942286"/>
          </a:xfrm>
          <a:prstGeom prst="rect">
            <a:avLst/>
          </a:prstGeom>
        </p:spPr>
      </p:pic>
      <p:sp>
        <p:nvSpPr>
          <p:cNvPr id="11" name="向右箭號 10"/>
          <p:cNvSpPr/>
          <p:nvPr/>
        </p:nvSpPr>
        <p:spPr>
          <a:xfrm>
            <a:off x="6280204" y="1588913"/>
            <a:ext cx="487680" cy="470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9216" y="5394960"/>
            <a:ext cx="4378583" cy="1062260"/>
          </a:xfrm>
          <a:prstGeom prst="rect">
            <a:avLst/>
          </a:prstGeom>
        </p:spPr>
      </p:pic>
      <p:sp>
        <p:nvSpPr>
          <p:cNvPr id="13" name="向右箭號 12"/>
          <p:cNvSpPr/>
          <p:nvPr/>
        </p:nvSpPr>
        <p:spPr>
          <a:xfrm>
            <a:off x="1172307" y="5513728"/>
            <a:ext cx="958947" cy="647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解答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3419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6610" y="103588"/>
            <a:ext cx="7709095" cy="727052"/>
          </a:xfrm>
        </p:spPr>
        <p:txBody>
          <a:bodyPr>
            <a:normAutofit/>
          </a:bodyPr>
          <a:lstStyle/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特徵值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(eigenvalue)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 </a:t>
            </a:r>
            <a:r>
              <a:rPr lang="en-US" altLang="zh-TW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(eigenvector)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615" y="870723"/>
            <a:ext cx="7166197" cy="294291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15" y="4490827"/>
            <a:ext cx="8197381" cy="142463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11551" y="3037278"/>
            <a:ext cx="13508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/>
              <a:t>特徵值</a:t>
            </a:r>
            <a:r>
              <a:rPr lang="en-US" altLang="zh-TW" b="1" dirty="0"/>
              <a:t>(eigenvalue)</a:t>
            </a:r>
            <a:endParaRPr lang="zh-TW" altLang="en-US" b="1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7019778" y="2011680"/>
            <a:ext cx="291773" cy="290324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>
            <a:off x="4261158" y="2011680"/>
            <a:ext cx="2166366" cy="24401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07520" y="2342182"/>
            <a:ext cx="1531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特徵向量 </a:t>
            </a:r>
            <a:r>
              <a:rPr lang="en-US" altLang="zh-TW" dirty="0"/>
              <a:t>(eigenvector)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6693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507" y="79353"/>
            <a:ext cx="8241030" cy="755187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</a:t>
            </a:r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特徵值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(eigenvalue)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與特徵向量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(eigenvector)</a:t>
            </a:r>
            <a:endParaRPr lang="zh-TW" altLang="en-US" sz="2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245" y="627857"/>
            <a:ext cx="1535395" cy="974642"/>
          </a:xfrm>
          <a:prstGeom prst="rect">
            <a:avLst/>
          </a:prstGeom>
        </p:spPr>
      </p:pic>
      <p:sp>
        <p:nvSpPr>
          <p:cNvPr id="5" name="向右箭號 4"/>
          <p:cNvSpPr/>
          <p:nvPr/>
        </p:nvSpPr>
        <p:spPr>
          <a:xfrm>
            <a:off x="2058570" y="986882"/>
            <a:ext cx="506437" cy="3376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18" y="718827"/>
            <a:ext cx="3861222" cy="792701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2134520" y="1818181"/>
            <a:ext cx="506437" cy="389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796" y="1615647"/>
            <a:ext cx="2530413" cy="1356011"/>
          </a:xfrm>
          <a:prstGeom prst="rect">
            <a:avLst/>
          </a:prstGeom>
        </p:spPr>
      </p:pic>
      <p:sp>
        <p:nvSpPr>
          <p:cNvPr id="10" name="向右箭號 9"/>
          <p:cNvSpPr/>
          <p:nvPr/>
        </p:nvSpPr>
        <p:spPr>
          <a:xfrm>
            <a:off x="2788049" y="3661384"/>
            <a:ext cx="506437" cy="389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418" y="3338658"/>
            <a:ext cx="2026892" cy="1057509"/>
          </a:xfrm>
          <a:prstGeom prst="rect">
            <a:avLst/>
          </a:prstGeom>
        </p:spPr>
      </p:pic>
      <p:sp>
        <p:nvSpPr>
          <p:cNvPr id="12" name="向右箭號 11"/>
          <p:cNvSpPr/>
          <p:nvPr/>
        </p:nvSpPr>
        <p:spPr>
          <a:xfrm>
            <a:off x="5617339" y="3631281"/>
            <a:ext cx="506437" cy="389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764" y="3316861"/>
            <a:ext cx="1195327" cy="7694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45583" y="4474144"/>
            <a:ext cx="2898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求特徵向量（以 𝜆</a:t>
            </a:r>
            <a:r>
              <a:rPr lang="en-US" altLang="zh-TW" dirty="0" smtClean="0"/>
              <a:t>=2</a:t>
            </a:r>
            <a:r>
              <a:rPr lang="zh-TW" altLang="en-US" dirty="0" smtClean="0"/>
              <a:t>為</a:t>
            </a:r>
            <a:r>
              <a:rPr lang="zh-TW" altLang="en-US" dirty="0"/>
              <a:t>例）</a:t>
            </a:r>
          </a:p>
        </p:txBody>
      </p:sp>
      <p:sp>
        <p:nvSpPr>
          <p:cNvPr id="15" name="矩形 14"/>
          <p:cNvSpPr/>
          <p:nvPr/>
        </p:nvSpPr>
        <p:spPr>
          <a:xfrm>
            <a:off x="559754" y="3075777"/>
            <a:ext cx="2898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求特徵向量（以 𝜆</a:t>
            </a:r>
            <a:r>
              <a:rPr lang="en-US" altLang="zh-TW" dirty="0" smtClean="0"/>
              <a:t>=5</a:t>
            </a:r>
            <a:r>
              <a:rPr lang="zh-TW" altLang="en-US" dirty="0" smtClean="0"/>
              <a:t>為</a:t>
            </a:r>
            <a:r>
              <a:rPr lang="zh-TW" altLang="en-US" dirty="0"/>
              <a:t>例）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51" y="5337266"/>
            <a:ext cx="4959069" cy="1166647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861976" y="5368607"/>
            <a:ext cx="311833" cy="108793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7048904" y="3312022"/>
            <a:ext cx="450823" cy="80323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肘形接點 19"/>
          <p:cNvCxnSpPr>
            <a:endCxn id="17" idx="0"/>
          </p:cNvCxnSpPr>
          <p:nvPr/>
        </p:nvCxnSpPr>
        <p:spPr>
          <a:xfrm rot="10800000">
            <a:off x="2017893" y="5368607"/>
            <a:ext cx="2737338" cy="12700"/>
          </a:xfrm>
          <a:prstGeom prst="bentConnector4">
            <a:avLst>
              <a:gd name="adj1" fmla="val -385"/>
              <a:gd name="adj2" fmla="val 167845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接點 29"/>
          <p:cNvCxnSpPr/>
          <p:nvPr/>
        </p:nvCxnSpPr>
        <p:spPr>
          <a:xfrm rot="10800000">
            <a:off x="2650511" y="6339326"/>
            <a:ext cx="2737338" cy="12700"/>
          </a:xfrm>
          <a:prstGeom prst="bentConnector4">
            <a:avLst>
              <a:gd name="adj1" fmla="val -385"/>
              <a:gd name="adj2" fmla="val -1589228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2494593" y="5337266"/>
            <a:ext cx="486991" cy="108793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圖片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721" y="5434518"/>
            <a:ext cx="2590761" cy="71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7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22363" y="366661"/>
            <a:ext cx="486742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import </a:t>
            </a:r>
            <a:r>
              <a:rPr lang="en-US" altLang="zh-TW" dirty="0" err="1"/>
              <a:t>numpy</a:t>
            </a:r>
            <a:r>
              <a:rPr lang="en-US" altLang="zh-TW" dirty="0"/>
              <a:t> as np</a:t>
            </a:r>
          </a:p>
          <a:p>
            <a:endParaRPr lang="en-US" altLang="zh-TW" dirty="0"/>
          </a:p>
          <a:p>
            <a:r>
              <a:rPr lang="en-US" altLang="zh-TW" dirty="0"/>
              <a:t>A = </a:t>
            </a:r>
            <a:r>
              <a:rPr lang="en-US" altLang="zh-TW" dirty="0" err="1"/>
              <a:t>np.array</a:t>
            </a:r>
            <a:r>
              <a:rPr lang="en-US" altLang="zh-TW" dirty="0"/>
              <a:t>([[4, 1],</a:t>
            </a:r>
          </a:p>
          <a:p>
            <a:r>
              <a:rPr lang="en-US" altLang="zh-TW" dirty="0"/>
              <a:t>              [2, 3]])</a:t>
            </a:r>
          </a:p>
          <a:p>
            <a:endParaRPr lang="en-US" altLang="zh-TW" dirty="0"/>
          </a:p>
          <a:p>
            <a:r>
              <a:rPr lang="en-US" altLang="zh-TW" dirty="0" err="1"/>
              <a:t>vals</a:t>
            </a:r>
            <a:r>
              <a:rPr lang="en-US" altLang="zh-TW" dirty="0"/>
              <a:t>, </a:t>
            </a:r>
            <a:r>
              <a:rPr lang="en-US" altLang="zh-TW" dirty="0" err="1"/>
              <a:t>vecs</a:t>
            </a:r>
            <a:r>
              <a:rPr lang="en-US" altLang="zh-TW" dirty="0"/>
              <a:t> = </a:t>
            </a:r>
            <a:r>
              <a:rPr lang="en-US" altLang="zh-TW" dirty="0" err="1"/>
              <a:t>np.linalg.eig</a:t>
            </a:r>
            <a:r>
              <a:rPr lang="en-US" altLang="zh-TW" dirty="0"/>
              <a:t>(A)</a:t>
            </a:r>
          </a:p>
          <a:p>
            <a:endParaRPr lang="en-US" altLang="zh-TW" dirty="0"/>
          </a:p>
          <a:p>
            <a:r>
              <a:rPr lang="en-US" altLang="zh-TW" dirty="0"/>
              <a:t>print("</a:t>
            </a:r>
            <a:r>
              <a:rPr lang="zh-TW" altLang="en-US" dirty="0"/>
              <a:t>特徵值：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print(</a:t>
            </a:r>
            <a:r>
              <a:rPr lang="en-US" altLang="zh-TW" dirty="0" err="1"/>
              <a:t>vals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print("\n</a:t>
            </a:r>
            <a:r>
              <a:rPr lang="zh-TW" altLang="en-US" dirty="0"/>
              <a:t>特徵向量：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print(</a:t>
            </a:r>
            <a:r>
              <a:rPr lang="en-US" altLang="zh-TW" dirty="0" err="1"/>
              <a:t>vecs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# </a:t>
            </a:r>
            <a:r>
              <a:rPr lang="zh-TW" altLang="en-US" dirty="0"/>
              <a:t>驗證 </a:t>
            </a:r>
            <a:r>
              <a:rPr lang="en-US" altLang="zh-TW" dirty="0"/>
              <a:t>A = V</a:t>
            </a:r>
            <a:r>
              <a:rPr lang="el-GR" altLang="zh-TW" dirty="0"/>
              <a:t>Λ</a:t>
            </a:r>
            <a:r>
              <a:rPr lang="en-US" altLang="zh-TW" dirty="0"/>
              <a:t>V^{-1}</a:t>
            </a:r>
          </a:p>
          <a:p>
            <a:r>
              <a:rPr lang="en-US" altLang="zh-TW" dirty="0"/>
              <a:t>Lambda = </a:t>
            </a:r>
            <a:r>
              <a:rPr lang="en-US" altLang="zh-TW" dirty="0" err="1"/>
              <a:t>np.diag</a:t>
            </a:r>
            <a:r>
              <a:rPr lang="en-US" altLang="zh-TW" dirty="0"/>
              <a:t>(</a:t>
            </a:r>
            <a:r>
              <a:rPr lang="en-US" altLang="zh-TW" dirty="0" err="1"/>
              <a:t>vals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A_reconstructed</a:t>
            </a:r>
            <a:r>
              <a:rPr lang="en-US" altLang="zh-TW" dirty="0"/>
              <a:t> = </a:t>
            </a:r>
            <a:r>
              <a:rPr lang="en-US" altLang="zh-TW" dirty="0" err="1"/>
              <a:t>vecs</a:t>
            </a:r>
            <a:r>
              <a:rPr lang="en-US" altLang="zh-TW" dirty="0"/>
              <a:t> @ Lambda @ </a:t>
            </a:r>
            <a:r>
              <a:rPr lang="en-US" altLang="zh-TW" dirty="0" err="1"/>
              <a:t>np.linalg.inv</a:t>
            </a:r>
            <a:r>
              <a:rPr lang="en-US" altLang="zh-TW" dirty="0"/>
              <a:t>(</a:t>
            </a:r>
            <a:r>
              <a:rPr lang="en-US" altLang="zh-TW" dirty="0" err="1"/>
              <a:t>vecs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print("\n</a:t>
            </a:r>
            <a:r>
              <a:rPr lang="zh-TW" altLang="en-US" dirty="0"/>
              <a:t>重建 </a:t>
            </a:r>
            <a:r>
              <a:rPr lang="en-US" altLang="zh-TW" dirty="0"/>
              <a:t>A</a:t>
            </a:r>
            <a:r>
              <a:rPr lang="zh-TW" altLang="en-US" dirty="0"/>
              <a:t>：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print(</a:t>
            </a:r>
            <a:r>
              <a:rPr lang="en-US" altLang="zh-TW" dirty="0" err="1"/>
              <a:t>A_reconstructed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273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0332" y="1023487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import </a:t>
            </a:r>
            <a:r>
              <a:rPr lang="en-US" altLang="zh-TW" dirty="0" err="1"/>
              <a:t>sympy</a:t>
            </a:r>
            <a:r>
              <a:rPr lang="en-US" altLang="zh-TW" dirty="0"/>
              <a:t> as </a:t>
            </a:r>
            <a:r>
              <a:rPr lang="en-US" altLang="zh-TW" dirty="0" err="1"/>
              <a:t>sp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 = </a:t>
            </a:r>
            <a:r>
              <a:rPr lang="en-US" altLang="zh-TW" dirty="0" err="1"/>
              <a:t>sp.Matrix</a:t>
            </a:r>
            <a:r>
              <a:rPr lang="en-US" altLang="zh-TW" dirty="0"/>
              <a:t>([[4, 1],</a:t>
            </a:r>
          </a:p>
          <a:p>
            <a:r>
              <a:rPr lang="en-US" altLang="zh-TW" dirty="0"/>
              <a:t>               [2, 3]])</a:t>
            </a:r>
          </a:p>
          <a:p>
            <a:endParaRPr lang="en-US" altLang="zh-TW" dirty="0"/>
          </a:p>
          <a:p>
            <a:r>
              <a:rPr lang="en-US" altLang="zh-TW" dirty="0"/>
              <a:t># </a:t>
            </a:r>
            <a:r>
              <a:rPr lang="zh-TW" altLang="en-US" dirty="0"/>
              <a:t>特徵值與特徵向量</a:t>
            </a:r>
          </a:p>
          <a:p>
            <a:r>
              <a:rPr lang="en-US" altLang="zh-TW" dirty="0" err="1"/>
              <a:t>vals</a:t>
            </a:r>
            <a:r>
              <a:rPr lang="en-US" altLang="zh-TW" dirty="0"/>
              <a:t> = </a:t>
            </a:r>
            <a:r>
              <a:rPr lang="en-US" altLang="zh-TW" dirty="0" err="1"/>
              <a:t>A.eigenvals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vecs</a:t>
            </a:r>
            <a:r>
              <a:rPr lang="en-US" altLang="zh-TW" dirty="0"/>
              <a:t> = </a:t>
            </a:r>
            <a:r>
              <a:rPr lang="en-US" altLang="zh-TW" dirty="0" err="1"/>
              <a:t>A.eigenvects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print("</a:t>
            </a:r>
            <a:r>
              <a:rPr lang="zh-TW" altLang="en-US" dirty="0"/>
              <a:t>特徵值：</a:t>
            </a:r>
            <a:r>
              <a:rPr lang="en-US" altLang="zh-TW" dirty="0"/>
              <a:t>", </a:t>
            </a:r>
            <a:r>
              <a:rPr lang="en-US" altLang="zh-TW" dirty="0" err="1"/>
              <a:t>vals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print("</a:t>
            </a:r>
            <a:r>
              <a:rPr lang="zh-TW" altLang="en-US" dirty="0"/>
              <a:t>特徵向量：</a:t>
            </a:r>
            <a:r>
              <a:rPr lang="en-US" altLang="zh-TW" dirty="0"/>
              <a:t>", </a:t>
            </a:r>
            <a:r>
              <a:rPr lang="en-US" altLang="zh-TW" dirty="0" err="1"/>
              <a:t>vecs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# </a:t>
            </a:r>
            <a:r>
              <a:rPr lang="zh-TW" altLang="en-US" dirty="0"/>
              <a:t>對角化</a:t>
            </a:r>
          </a:p>
          <a:p>
            <a:r>
              <a:rPr lang="en-US" altLang="zh-TW" dirty="0"/>
              <a:t>P, D = </a:t>
            </a:r>
            <a:r>
              <a:rPr lang="en-US" altLang="zh-TW" dirty="0" err="1"/>
              <a:t>A.diagonalize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print("P =")</a:t>
            </a:r>
          </a:p>
          <a:p>
            <a:r>
              <a:rPr lang="en-US" altLang="zh-TW" dirty="0" err="1"/>
              <a:t>sp.pprint</a:t>
            </a:r>
            <a:r>
              <a:rPr lang="en-US" altLang="zh-TW" dirty="0"/>
              <a:t>(P)</a:t>
            </a:r>
          </a:p>
          <a:p>
            <a:r>
              <a:rPr lang="en-US" altLang="zh-TW" dirty="0"/>
              <a:t>print("D =")</a:t>
            </a:r>
          </a:p>
          <a:p>
            <a:r>
              <a:rPr lang="en-US" altLang="zh-TW" dirty="0" err="1"/>
              <a:t>sp.pprint</a:t>
            </a:r>
            <a:r>
              <a:rPr lang="en-US" altLang="zh-TW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067106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6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25" y="1166531"/>
            <a:ext cx="2476534" cy="10660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185100" y="2906591"/>
                <a:ext cx="1060355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100" y="2906591"/>
                <a:ext cx="1060355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810700" y="2906591"/>
                <a:ext cx="1297984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700" y="2906591"/>
                <a:ext cx="1297984" cy="974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233973" y="4225657"/>
                <a:ext cx="213584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973" y="4225657"/>
                <a:ext cx="2135841" cy="976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023011" y="4225657"/>
                <a:ext cx="236507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011" y="4225657"/>
                <a:ext cx="2365071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369813" y="4225657"/>
                <a:ext cx="1028358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813" y="4225657"/>
                <a:ext cx="1028358" cy="9766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408968" y="4225657"/>
                <a:ext cx="1028358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968" y="4225657"/>
                <a:ext cx="1028358" cy="9766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2245455" y="5196021"/>
            <a:ext cx="2290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Eigenvalue= -1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6549" y="5215171"/>
            <a:ext cx="2077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Eigenvalue= -1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96296" y="390138"/>
            <a:ext cx="8241030" cy="75518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求特徵值</a:t>
            </a:r>
            <a:r>
              <a:rPr lang="en-US" altLang="zh-TW" sz="28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(eigenvalue)</a:t>
            </a:r>
            <a:r>
              <a:rPr lang="zh-TW" altLang="en-US" sz="28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與特徵向量 </a:t>
            </a:r>
            <a:r>
              <a:rPr lang="en-US" altLang="zh-TW" sz="2800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(eigenvector)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5250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2707" y="835578"/>
            <a:ext cx="754731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/>
              <a:t>依據附圖程式碼進行資料處理，下列何者正確</a:t>
            </a:r>
            <a:r>
              <a:rPr lang="zh-TW" altLang="en-US" sz="2800" dirty="0" smtClean="0"/>
              <a:t>？</a:t>
            </a:r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zh-TW" altLang="en-US" sz="2800" dirty="0"/>
          </a:p>
          <a:p>
            <a:r>
              <a:rPr lang="en-US" altLang="zh-TW" sz="2800" dirty="0"/>
              <a:t>(A)</a:t>
            </a:r>
            <a:r>
              <a:rPr lang="en-US" altLang="zh-TW" sz="2800" dirty="0" err="1"/>
              <a:t>np.linalg.inv</a:t>
            </a:r>
            <a:r>
              <a:rPr lang="en-US" altLang="zh-TW" sz="2800" dirty="0"/>
              <a:t>(A) </a:t>
            </a:r>
            <a:r>
              <a:rPr lang="zh-TW" altLang="en-US" sz="2800" dirty="0"/>
              <a:t>計算矩陣 </a:t>
            </a:r>
            <a:r>
              <a:rPr lang="en-US" altLang="zh-TW" sz="2800" dirty="0"/>
              <a:t>A </a:t>
            </a:r>
            <a:r>
              <a:rPr lang="zh-TW" altLang="en-US" sz="2800" dirty="0"/>
              <a:t>的行列式；</a:t>
            </a:r>
          </a:p>
          <a:p>
            <a:r>
              <a:rPr lang="en-US" altLang="zh-TW" sz="2800" dirty="0"/>
              <a:t>(B)v1 * v2 </a:t>
            </a:r>
            <a:r>
              <a:rPr lang="zh-TW" altLang="en-US" sz="2800" dirty="0"/>
              <a:t>結果為 </a:t>
            </a:r>
            <a:r>
              <a:rPr lang="en-US" altLang="zh-TW" sz="2800" dirty="0"/>
              <a:t>array([5, 7, 9])</a:t>
            </a:r>
            <a:r>
              <a:rPr lang="zh-TW" altLang="en-US" sz="2800" dirty="0"/>
              <a:t>；</a:t>
            </a:r>
          </a:p>
          <a:p>
            <a:r>
              <a:rPr lang="en-US" altLang="zh-TW" sz="2800" dirty="0"/>
              <a:t>(C)np.dot(v1, v2) </a:t>
            </a:r>
            <a:r>
              <a:rPr lang="zh-TW" altLang="en-US" sz="2800" dirty="0"/>
              <a:t>結果為 </a:t>
            </a:r>
            <a:r>
              <a:rPr lang="en-US" altLang="zh-TW" sz="2800" dirty="0"/>
              <a:t>np.int64(32)</a:t>
            </a:r>
            <a:r>
              <a:rPr lang="zh-TW" altLang="en-US" sz="2800" dirty="0"/>
              <a:t>；</a:t>
            </a:r>
          </a:p>
          <a:p>
            <a:r>
              <a:rPr lang="en-US" altLang="zh-TW" sz="2800" dirty="0"/>
              <a:t>(D)</a:t>
            </a:r>
            <a:r>
              <a:rPr lang="en-US" altLang="zh-TW" sz="2800" dirty="0" err="1"/>
              <a:t>np.linalg.eig</a:t>
            </a:r>
            <a:r>
              <a:rPr lang="en-US" altLang="zh-TW" sz="2800" dirty="0"/>
              <a:t>(A) </a:t>
            </a:r>
            <a:r>
              <a:rPr lang="zh-TW" altLang="en-US" sz="2800" dirty="0"/>
              <a:t>計算矩陣 </a:t>
            </a:r>
            <a:r>
              <a:rPr lang="en-US" altLang="zh-TW" sz="2800" dirty="0"/>
              <a:t>A </a:t>
            </a:r>
            <a:r>
              <a:rPr lang="zh-TW" altLang="en-US" sz="2800" dirty="0"/>
              <a:t>的反矩陣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2" y="1615360"/>
            <a:ext cx="5777695" cy="242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33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2620" y="2033009"/>
            <a:ext cx="768096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b="0" i="0" dirty="0" smtClean="0">
                <a:effectLst/>
                <a:latin typeface="-apple-system"/>
              </a:rPr>
              <a:t>特徵值分解</a:t>
            </a:r>
            <a:r>
              <a:rPr lang="en-US" altLang="zh-TW" sz="2000" b="0" i="0" dirty="0" smtClean="0">
                <a:effectLst/>
                <a:latin typeface="-apple-system"/>
              </a:rPr>
              <a:t>(Eigenvalue Decomposition)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zh-TW" altLang="en-US" sz="2000" b="0" i="0" dirty="0" smtClean="0">
                <a:effectLst/>
                <a:latin typeface="-apple-system"/>
              </a:rPr>
              <a:t>特徵值和特徵向量 </a:t>
            </a:r>
            <a:endParaRPr lang="en-US" altLang="zh-TW" sz="2000" b="0" i="0" dirty="0" smtClean="0">
              <a:effectLst/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zh-TW" sz="2000" b="0" i="0" dirty="0" smtClean="0">
                <a:effectLst/>
                <a:latin typeface="-apple-system"/>
              </a:rPr>
              <a:t>https://en.wikipedia.org/wiki/Eigenvalues_and_eigenvectors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zh-TW" sz="2000" b="0" i="0" dirty="0" smtClean="0">
                <a:effectLst/>
                <a:latin typeface="-apple-system"/>
              </a:rPr>
              <a:t>https://en.wikipedia.org/wiki/Matrix_decomposition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0" i="0" dirty="0" smtClean="0">
                <a:effectLst/>
                <a:latin typeface="-apple-system"/>
              </a:rPr>
              <a:t>奇異值分解</a:t>
            </a:r>
            <a:r>
              <a:rPr lang="en-US" altLang="zh-TW" sz="2000" b="0" i="0" dirty="0" smtClean="0">
                <a:effectLst/>
                <a:latin typeface="-apple-system"/>
              </a:rPr>
              <a:t>(Singular Value Decomposition, SVD)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0" i="0" dirty="0" smtClean="0">
                <a:effectLst/>
                <a:latin typeface="-apple-system"/>
              </a:rPr>
              <a:t>非負矩陣分解</a:t>
            </a:r>
            <a:r>
              <a:rPr lang="en-US" altLang="zh-TW" sz="2000" b="0" i="0" dirty="0" smtClean="0">
                <a:effectLst/>
                <a:latin typeface="-apple-system"/>
              </a:rPr>
              <a:t>(Non-negative Matrix Factorization, NMF)</a:t>
            </a:r>
            <a:endParaRPr lang="en-US" altLang="zh-TW" sz="20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75631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import </a:t>
            </a:r>
            <a:r>
              <a:rPr lang="en-US" altLang="zh-TW" dirty="0" err="1"/>
              <a:t>numpy</a:t>
            </a:r>
            <a:r>
              <a:rPr lang="en-US" altLang="zh-TW" dirty="0"/>
              <a:t> as npv1 = </a:t>
            </a:r>
            <a:r>
              <a:rPr lang="en-US" altLang="zh-TW" dirty="0" err="1"/>
              <a:t>np.array</a:t>
            </a:r>
            <a:r>
              <a:rPr lang="en-US" altLang="zh-TW" dirty="0"/>
              <a:t>([1, 2, 3])v2 = </a:t>
            </a:r>
            <a:r>
              <a:rPr lang="en-US" altLang="zh-TW" dirty="0" err="1"/>
              <a:t>np.array</a:t>
            </a:r>
            <a:r>
              <a:rPr lang="en-US" altLang="zh-TW" dirty="0"/>
              <a:t>([4, 5, 6])A = </a:t>
            </a:r>
            <a:r>
              <a:rPr lang="en-US" altLang="zh-TW" dirty="0" err="1"/>
              <a:t>np.array</a:t>
            </a:r>
            <a:r>
              <a:rPr lang="en-US" altLang="zh-TW" dirty="0"/>
              <a:t>([[1, 2], [3, 4]])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2153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6958" y="232116"/>
            <a:ext cx="7886700" cy="656714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分解</a:t>
            </a:r>
            <a:r>
              <a:rPr lang="en-US" altLang="zh-TW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4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Eigen­decomposition</a:t>
            </a:r>
            <a:r>
              <a:rPr lang="en-US" altLang="zh-TW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958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D2A09-A6A2-E5A3-F887-F6B12C7A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F6B9E27-D457-CCB2-0970-2A06FA846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245" y="2547814"/>
            <a:ext cx="6877963" cy="314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48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4329" y="280720"/>
            <a:ext cx="8297301" cy="1325563"/>
          </a:xfrm>
        </p:spPr>
        <p:txBody>
          <a:bodyPr>
            <a:normAutofit/>
          </a:bodyPr>
          <a:lstStyle/>
          <a:p>
            <a:r>
              <a:rPr lang="zh-TW" altLang="en-US" dirty="0"/>
              <a:t>奇異值</a:t>
            </a:r>
            <a:r>
              <a:rPr lang="zh-TW" altLang="en-US" dirty="0" smtClean="0"/>
              <a:t>分解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en-US" altLang="zh-TW" dirty="0"/>
              <a:t>Singular Value Decomposition, SVD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b="8085"/>
          <a:stretch/>
        </p:blipFill>
        <p:spPr>
          <a:xfrm>
            <a:off x="132031" y="1962442"/>
            <a:ext cx="4042979" cy="4269545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ChangeAspect="1"/>
          </p:cNvPicPr>
          <p:nvPr/>
        </p:nvPicPr>
        <p:blipFill rotWithShape="1">
          <a:blip r:embed="rId3"/>
          <a:srcRect l="14129" t="36282" r="20411" b="34502"/>
          <a:stretch/>
        </p:blipFill>
        <p:spPr>
          <a:xfrm>
            <a:off x="4502979" y="4214515"/>
            <a:ext cx="3896750" cy="149572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4"/>
          <a:srcRect l="30615" t="33685" r="21868" b="18916"/>
          <a:stretch/>
        </p:blipFill>
        <p:spPr>
          <a:xfrm>
            <a:off x="4396154" y="2039815"/>
            <a:ext cx="3706838" cy="97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71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625" t="36282" r="21320"/>
          <a:stretch/>
        </p:blipFill>
        <p:spPr>
          <a:xfrm>
            <a:off x="808891" y="365126"/>
            <a:ext cx="7012746" cy="599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13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715997E-CAFA-4E7D-ECA9-9D989BC6C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384" y="1186158"/>
            <a:ext cx="8470215" cy="24831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A732A4A-E90A-9FE0-82E9-2287E4906534}"/>
              </a:ext>
            </a:extLst>
          </p:cNvPr>
          <p:cNvSpPr txBox="1"/>
          <p:nvPr/>
        </p:nvSpPr>
        <p:spPr>
          <a:xfrm>
            <a:off x="418152" y="3861846"/>
            <a:ext cx="8725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就是說，儲存矩陣</a:t>
            </a:r>
            <a:r>
              <a:rPr lang="en-US" altLang="zh-TW" dirty="0"/>
              <a:t>A</a:t>
            </a:r>
            <a:r>
              <a:rPr lang="zh-TW" altLang="en-US" dirty="0"/>
              <a:t>需要</a:t>
            </a:r>
            <a:r>
              <a:rPr lang="en-US" altLang="zh-TW" dirty="0" err="1"/>
              <a:t>mxn</a:t>
            </a:r>
            <a:r>
              <a:rPr lang="zh-TW" altLang="en-US" dirty="0"/>
              <a:t>大小的儲存空間，而奇異值分解後則只需</a:t>
            </a:r>
          </a:p>
          <a:p>
            <a:r>
              <a:rPr lang="zh-TW" altLang="en-US" dirty="0"/>
              <a:t>要</a:t>
            </a:r>
            <a:r>
              <a:rPr lang="en-US" altLang="zh-TW" dirty="0" err="1"/>
              <a:t>mxr</a:t>
            </a:r>
            <a:r>
              <a:rPr lang="en-US" altLang="zh-TW" dirty="0"/>
              <a:t>+ </a:t>
            </a:r>
            <a:r>
              <a:rPr lang="en-US" altLang="zh-TW" dirty="0" err="1"/>
              <a:t>rx</a:t>
            </a:r>
            <a:r>
              <a:rPr lang="en-US" altLang="zh-TW" dirty="0"/>
              <a:t> r+ </a:t>
            </a:r>
            <a:r>
              <a:rPr lang="en-US" altLang="zh-TW" dirty="0" err="1"/>
              <a:t>rx</a:t>
            </a:r>
            <a:r>
              <a:rPr lang="en-US" altLang="zh-TW" dirty="0"/>
              <a:t> n = </a:t>
            </a:r>
            <a:r>
              <a:rPr lang="en-US" altLang="zh-TW" dirty="0" err="1"/>
              <a:t>rx</a:t>
            </a:r>
            <a:r>
              <a:rPr lang="en-US" altLang="zh-TW" dirty="0"/>
              <a:t> (m+ n + r)</a:t>
            </a:r>
            <a:r>
              <a:rPr lang="zh-TW" altLang="en-US" dirty="0"/>
              <a:t>大小的儲存空間，所以當</a:t>
            </a:r>
            <a:r>
              <a:rPr lang="en-US" altLang="zh-TW" dirty="0"/>
              <a:t>r</a:t>
            </a:r>
            <a:r>
              <a:rPr lang="zh-TW" altLang="en-US" dirty="0"/>
              <a:t>遠小於</a:t>
            </a:r>
            <a:r>
              <a:rPr lang="en-US" altLang="zh-TW" dirty="0"/>
              <a:t>m</a:t>
            </a:r>
            <a:r>
              <a:rPr lang="zh-TW" altLang="en-US" dirty="0"/>
              <a:t>和</a:t>
            </a:r>
          </a:p>
          <a:p>
            <a:r>
              <a:rPr lang="en-US" altLang="zh-TW" dirty="0"/>
              <a:t>n'</a:t>
            </a:r>
            <a:r>
              <a:rPr lang="zh-TW" altLang="en-US" dirty="0"/>
              <a:t>也就是當</a:t>
            </a:r>
            <a:r>
              <a:rPr lang="en-US" altLang="zh-TW" dirty="0" err="1"/>
              <a:t>mxn</a:t>
            </a:r>
            <a:r>
              <a:rPr lang="en-US" altLang="zh-TW" dirty="0"/>
              <a:t> &lt;&lt;1'</a:t>
            </a:r>
            <a:r>
              <a:rPr lang="zh-TW" altLang="en-US" dirty="0"/>
              <a:t>則採用奇異值分解可以省去更多的儲存</a:t>
            </a:r>
            <a:r>
              <a:rPr lang="en-US" altLang="zh-TW" dirty="0" err="1"/>
              <a:t>rx</a:t>
            </a:r>
            <a:r>
              <a:rPr lang="en-US" altLang="zh-TW" dirty="0"/>
              <a:t>(</a:t>
            </a:r>
            <a:r>
              <a:rPr lang="en-US" altLang="zh-TW" dirty="0" err="1"/>
              <a:t>m+n+r</a:t>
            </a:r>
            <a:r>
              <a:rPr lang="en-US" altLang="zh-TW" dirty="0"/>
              <a:t>) </a:t>
            </a:r>
            <a:r>
              <a:rPr lang="zh-TW" altLang="en-US" dirty="0"/>
              <a:t>空間 </a:t>
            </a:r>
            <a:endParaRPr lang="en-US" altLang="zh-TW" dirty="0"/>
          </a:p>
          <a:p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假設矩陣</a:t>
            </a:r>
            <a:r>
              <a:rPr lang="en-US" altLang="zh-TW" dirty="0"/>
              <a:t>A</a:t>
            </a:r>
            <a:r>
              <a:rPr lang="zh-TW" altLang="en-US" dirty="0"/>
              <a:t>大小為</a:t>
            </a:r>
            <a:r>
              <a:rPr lang="en-US" altLang="zh-TW" dirty="0"/>
              <a:t>},000X 200=200,000' </a:t>
            </a:r>
            <a:r>
              <a:rPr lang="zh-TW" altLang="en-US" dirty="0"/>
              <a:t>經過奇異值分解後得知奇異</a:t>
            </a:r>
          </a:p>
          <a:p>
            <a:r>
              <a:rPr lang="zh-TW" altLang="en-US" dirty="0"/>
              <a:t>值</a:t>
            </a:r>
            <a:r>
              <a:rPr lang="en-US" altLang="zh-TW" dirty="0"/>
              <a:t>r</a:t>
            </a:r>
            <a:r>
              <a:rPr lang="zh-TW" altLang="en-US" dirty="0"/>
              <a:t>為 </a:t>
            </a:r>
            <a:r>
              <a:rPr lang="en-US" altLang="zh-TW" dirty="0"/>
              <a:t>50' </a:t>
            </a:r>
            <a:r>
              <a:rPr lang="zh-TW" altLang="en-US" dirty="0"/>
              <a:t>則奇異值分解只需要</a:t>
            </a:r>
            <a:r>
              <a:rPr lang="en-US" altLang="zh-TW" dirty="0"/>
              <a:t>50x (1,000 + 200 + 50)=50 x l,250=62,500 </a:t>
            </a:r>
          </a:p>
          <a:p>
            <a:r>
              <a:rPr lang="zh-TW" altLang="en-US" dirty="0"/>
              <a:t>的儲存空間 。</a:t>
            </a: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53840" y="161144"/>
            <a:ext cx="82973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/>
              <a:t>奇異值分解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(Singular Value Decomposition, SVD)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8841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E26939-6A43-FDA6-5EEB-ECEEA4AB6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164" y="1727634"/>
            <a:ext cx="8137418" cy="43868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9EB8CE9-13EF-5EC1-8F04-C8718C2F7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0" b="-16031"/>
          <a:stretch>
            <a:fillRect/>
          </a:stretch>
        </p:blipFill>
        <p:spPr>
          <a:xfrm>
            <a:off x="600364" y="566141"/>
            <a:ext cx="6890328" cy="87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68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2CACCD-FE68-0055-A918-AF361E4B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8B539EE-B93C-0B5C-6C44-4F49C10CC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51" y="1775160"/>
            <a:ext cx="7947681" cy="426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91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55AB96F-3CC0-E279-FB18-381DD403F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75" y="67078"/>
            <a:ext cx="5530851" cy="667780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8E558FA-138B-CED3-4DB4-51710C789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29" r="17897"/>
          <a:stretch>
            <a:fillRect/>
          </a:stretch>
        </p:blipFill>
        <p:spPr>
          <a:xfrm>
            <a:off x="526473" y="406401"/>
            <a:ext cx="1475209" cy="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12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A3C778-BC95-604B-0486-D8DD9E65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31" y="93105"/>
            <a:ext cx="7886700" cy="923330"/>
          </a:xfrm>
        </p:spPr>
        <p:txBody>
          <a:bodyPr/>
          <a:lstStyle/>
          <a:p>
            <a:r>
              <a:rPr lang="en-US" altLang="zh-TW" dirty="0"/>
              <a:t>PCA </a:t>
            </a:r>
            <a:r>
              <a:rPr lang="zh-TW" altLang="en-US" dirty="0"/>
              <a:t>的推導 </a:t>
            </a:r>
            <a:r>
              <a:rPr lang="en-US" altLang="zh-TW" dirty="0"/>
              <a:t>(</a:t>
            </a:r>
            <a:r>
              <a:rPr lang="zh-TW" altLang="en-US" dirty="0"/>
              <a:t>最大化變異量法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A75498-F547-6ACE-6DDB-FA5CFF267D35}"/>
              </a:ext>
            </a:extLst>
          </p:cNvPr>
          <p:cNvSpPr txBox="1"/>
          <p:nvPr/>
        </p:nvSpPr>
        <p:spPr>
          <a:xfrm>
            <a:off x="205507" y="1007634"/>
            <a:ext cx="8375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假設我們有一個資料矩陣 </a:t>
            </a:r>
            <a:r>
              <a:rPr lang="en-US" altLang="zh-TW" dirty="0"/>
              <a:t>$X$</a:t>
            </a:r>
            <a:r>
              <a:rPr lang="zh-TW" altLang="en-US" dirty="0"/>
              <a:t>，大小為 </a:t>
            </a:r>
            <a:r>
              <a:rPr lang="en-US" altLang="zh-TW" dirty="0"/>
              <a:t>$n \times d$</a:t>
            </a:r>
            <a:r>
              <a:rPr lang="zh-TW" altLang="en-US" dirty="0"/>
              <a:t>（</a:t>
            </a:r>
            <a:r>
              <a:rPr lang="en-US" altLang="zh-TW" dirty="0"/>
              <a:t>$n$ </a:t>
            </a:r>
            <a:r>
              <a:rPr lang="zh-TW" altLang="en-US" dirty="0"/>
              <a:t>個樣本，</a:t>
            </a:r>
            <a:r>
              <a:rPr lang="en-US" altLang="zh-TW" dirty="0"/>
              <a:t>$d$ </a:t>
            </a:r>
            <a:r>
              <a:rPr lang="zh-TW" altLang="en-US" dirty="0"/>
              <a:t>個特徵）。</a:t>
            </a:r>
          </a:p>
          <a:p>
            <a:r>
              <a:rPr lang="zh-TW" altLang="en-US" dirty="0"/>
              <a:t>前提： 我們假設 </a:t>
            </a:r>
            <a:r>
              <a:rPr lang="en-US" altLang="zh-TW" dirty="0"/>
              <a:t>$X$ </a:t>
            </a:r>
            <a:r>
              <a:rPr lang="zh-TW" altLang="en-US" dirty="0"/>
              <a:t>已經做過中心化 </a:t>
            </a:r>
            <a:r>
              <a:rPr lang="en-US" altLang="zh-TW" dirty="0"/>
              <a:t>(Centered)</a:t>
            </a:r>
            <a:r>
              <a:rPr lang="zh-TW" altLang="en-US" dirty="0"/>
              <a:t>，即每一行的平均值為 </a:t>
            </a:r>
            <a:r>
              <a:rPr lang="en-US" altLang="zh-TW" dirty="0"/>
              <a:t>0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E8E0B6B-EBFB-FFBA-F960-6854615F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31" y="1994788"/>
            <a:ext cx="7427269" cy="45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47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7DF71F-886E-D756-5704-2882F6C0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81" y="69274"/>
            <a:ext cx="8376805" cy="495878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使用拉格朗日乘數法</a:t>
            </a:r>
            <a:r>
              <a:rPr lang="en-US" altLang="zh-TW" sz="2800" dirty="0"/>
              <a:t>(Lagrange Multipliers)</a:t>
            </a:r>
            <a:endParaRPr lang="zh-TW" altLang="en-US" sz="2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50FC7DB-FFC7-D61E-4D65-D78CE290B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130" y="500496"/>
            <a:ext cx="6902873" cy="622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06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88A4EE-D03A-050C-913B-BD5AD8C10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91019"/>
          </a:xfrm>
        </p:spPr>
        <p:txBody>
          <a:bodyPr/>
          <a:lstStyle/>
          <a:p>
            <a:r>
              <a:rPr lang="en-US" altLang="zh-TW" dirty="0"/>
              <a:t>SVD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708C9F1-759A-863B-EB22-5B51283D0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06415"/>
            <a:ext cx="2385386" cy="5963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2662634-A94E-99EB-391C-2BF52D00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055" y="1406415"/>
            <a:ext cx="4519822" cy="743768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9F710077-8975-27CF-71CF-FC942F0EF452}"/>
              </a:ext>
            </a:extLst>
          </p:cNvPr>
          <p:cNvSpPr/>
          <p:nvPr/>
        </p:nvSpPr>
        <p:spPr>
          <a:xfrm>
            <a:off x="3151090" y="1630878"/>
            <a:ext cx="707383" cy="371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08997A1-9E52-4FED-280E-864B474BA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239" y="2150183"/>
            <a:ext cx="3427220" cy="63897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EC0CB0E-181C-95F1-C695-9560D22D4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239" y="2744660"/>
            <a:ext cx="2539661" cy="68434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2D97B0-5011-79E9-0347-54893C91B0CB}"/>
              </a:ext>
            </a:extLst>
          </p:cNvPr>
          <p:cNvSpPr txBox="1"/>
          <p:nvPr/>
        </p:nvSpPr>
        <p:spPr>
          <a:xfrm>
            <a:off x="865090" y="353292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令 </a:t>
            </a:r>
            <a:r>
              <a:rPr lang="en-US" altLang="zh-TW" dirty="0"/>
              <a:t>$\Lambda = \</a:t>
            </a:r>
            <a:r>
              <a:rPr lang="en-US" altLang="zh-TW" dirty="0" err="1"/>
              <a:t>Sigma^T</a:t>
            </a:r>
            <a:r>
              <a:rPr lang="en-US" altLang="zh-TW" dirty="0"/>
              <a:t> \Sigma$</a:t>
            </a:r>
            <a:r>
              <a:rPr lang="zh-TW" altLang="en-US" dirty="0"/>
              <a:t>。因為 ∑ 是對角矩陣，</a:t>
            </a:r>
            <a:r>
              <a:rPr lang="en-US" altLang="zh-TW" dirty="0"/>
              <a:t>$\</a:t>
            </a:r>
            <a:r>
              <a:rPr lang="en-US" altLang="zh-TW" dirty="0" err="1"/>
              <a:t>Sigma^T</a:t>
            </a:r>
            <a:r>
              <a:rPr lang="en-US" altLang="zh-TW" dirty="0"/>
              <a:t> \Sigma$ </a:t>
            </a:r>
            <a:r>
              <a:rPr lang="zh-TW" altLang="en-US" dirty="0"/>
              <a:t>也是對角矩陣，其對角線元素為奇異值的平方 </a:t>
            </a:r>
            <a:r>
              <a:rPr lang="en-US" altLang="zh-TW" dirty="0"/>
              <a:t>$\sigma_i^2$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5379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19B60-8A57-FEB8-A8E8-E7310820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SVD</a:t>
            </a:r>
            <a:r>
              <a:rPr lang="zh-TW" altLang="en-US" dirty="0"/>
              <a:t>與</a:t>
            </a:r>
            <a:r>
              <a:rPr lang="en-US" altLang="zh-TW" dirty="0"/>
              <a:t>PCA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B87EE40-5EFF-F01F-4869-36C6D8081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12513"/>
            <a:ext cx="2827857" cy="6319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2C291D4-34CC-B205-7B9D-53A186ED7831}"/>
              </a:ext>
            </a:extLst>
          </p:cNvPr>
          <p:cNvSpPr txBox="1"/>
          <p:nvPr/>
        </p:nvSpPr>
        <p:spPr>
          <a:xfrm>
            <a:off x="4208318" y="11201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對稱矩陣的特徵分解  </a:t>
            </a:r>
            <a:r>
              <a:rPr lang="en-US" altLang="zh-TW" b="1" dirty="0"/>
              <a:t>(</a:t>
            </a:r>
            <a:r>
              <a:rPr lang="en-US" altLang="zh-TW" b="1" dirty="0" err="1"/>
              <a:t>Eigendecomposition</a:t>
            </a:r>
            <a:r>
              <a:rPr lang="en-US" altLang="zh-TW" b="1" dirty="0"/>
              <a:t>)</a:t>
            </a:r>
            <a:endParaRPr lang="zh-TW" altLang="en-US" b="1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9345282-7D99-8658-5E46-3AC8C0C9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95" y="2736835"/>
            <a:ext cx="8723165" cy="356765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1D08C44-8A89-5639-FEB3-231762284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859" y="1612513"/>
            <a:ext cx="2070613" cy="56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78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49A29F-55D7-D877-A889-275ED6EA6D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3524" y="2870301"/>
          <a:ext cx="8616951" cy="3779520"/>
        </p:xfrm>
        <a:graphic>
          <a:graphicData uri="http://schemas.openxmlformats.org/drawingml/2006/table">
            <a:tbl>
              <a:tblPr/>
              <a:tblGrid>
                <a:gridCol w="1578841">
                  <a:extLst>
                    <a:ext uri="{9D8B030D-6E8A-4147-A177-3AD203B41FA5}">
                      <a16:colId xmlns:a16="http://schemas.microsoft.com/office/drawing/2014/main" val="303180992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96265988"/>
                    </a:ext>
                  </a:extLst>
                </a:gridCol>
                <a:gridCol w="2124363">
                  <a:extLst>
                    <a:ext uri="{9D8B030D-6E8A-4147-A177-3AD203B41FA5}">
                      <a16:colId xmlns:a16="http://schemas.microsoft.com/office/drawing/2014/main" val="3899470942"/>
                    </a:ext>
                  </a:extLst>
                </a:gridCol>
                <a:gridCol w="2373747">
                  <a:extLst>
                    <a:ext uri="{9D8B030D-6E8A-4147-A177-3AD203B41FA5}">
                      <a16:colId xmlns:a16="http://schemas.microsoft.com/office/drawing/2014/main" val="3195694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概念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PCA 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視角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共變異數矩陣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SVD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視角 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資料矩陣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連結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83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目標矩陣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$C = \frac{1}{n-1} X^T X$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$X$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$X^T X$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的特徵分解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9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主成分方向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$C$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的特徵向量 </a:t>
                      </a: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($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w$)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$X$ </a:t>
                      </a:r>
                      <a:r>
                        <a:rPr lang="zh-TW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的右奇異向量 </a:t>
                      </a: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($V$)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$w = v$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zh-TW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完全相同</a:t>
                      </a: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269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變異量大小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$C$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的特徵值 </a:t>
                      </a: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($\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lambda$)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$X$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的奇異值 </a:t>
                      </a: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($\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sigma$)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$\lambda = \frac{\sigma^2}{n-1}$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0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降維後的座標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$Z = X w$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$Z = U \Sigma$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$X V = (U \Sigma V^T) V = U \Sigma$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15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230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594" y="3869410"/>
            <a:ext cx="6410325" cy="1600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8650" y="1593056"/>
            <a:ext cx="752621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 smtClean="0"/>
              <a:t>想像你有一個原始矩陣 </a:t>
            </a:r>
            <a:r>
              <a:rPr lang="en-US" altLang="zh-TW" sz="2400" dirty="0" smtClean="0"/>
              <a:t>V</a:t>
            </a:r>
            <a:r>
              <a:rPr lang="zh-TW" altLang="en-US" sz="2400" dirty="0" smtClean="0"/>
              <a:t>（例如：由多張人臉圖片組成的</a:t>
            </a:r>
            <a:r>
              <a:rPr lang="zh-TW" altLang="en-US" sz="2400" dirty="0"/>
              <a:t>資料</a:t>
            </a:r>
            <a:r>
              <a:rPr lang="zh-TW" altLang="en-US" sz="2400" dirty="0" smtClean="0"/>
              <a:t>集）</a:t>
            </a:r>
            <a:endParaRPr lang="en-US" altLang="zh-TW" sz="2400" dirty="0" smtClean="0"/>
          </a:p>
          <a:p>
            <a:r>
              <a:rPr lang="en-US" altLang="zh-TW" dirty="0" smtClean="0"/>
              <a:t>NMF </a:t>
            </a:r>
            <a:r>
              <a:rPr lang="zh-TW" altLang="en-US" dirty="0" smtClean="0"/>
              <a:t>的目標是找到兩個較小的矩陣</a:t>
            </a:r>
            <a:r>
              <a:rPr lang="en-US" altLang="zh-TW" dirty="0"/>
              <a:t> </a:t>
            </a:r>
            <a:r>
              <a:rPr lang="en-US" altLang="zh-TW" dirty="0" smtClean="0"/>
              <a:t>W </a:t>
            </a:r>
            <a:r>
              <a:rPr lang="zh-TW" altLang="en-US" dirty="0" smtClean="0"/>
              <a:t>和 </a:t>
            </a:r>
            <a:r>
              <a:rPr lang="en-US" altLang="zh-TW" dirty="0" smtClean="0"/>
              <a:t>H</a:t>
            </a:r>
            <a:r>
              <a:rPr lang="zh-TW" altLang="en-US" dirty="0" smtClean="0"/>
              <a:t>，使得它們的乘積近似於原始矩陣：</a:t>
            </a:r>
            <a:endParaRPr lang="en-US" altLang="zh-TW" dirty="0" smtClean="0"/>
          </a:p>
          <a:p>
            <a:r>
              <a:rPr lang="en-US" altLang="zh-TW" dirty="0" smtClean="0"/>
              <a:t>V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~</a:t>
            </a:r>
            <a:r>
              <a:rPr lang="en-US" altLang="zh-TW" dirty="0" smtClean="0"/>
              <a:t>  W * H</a:t>
            </a:r>
            <a:endParaRPr lang="zh-TW" altLang="en-US" dirty="0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68813" y="196947"/>
            <a:ext cx="8806374" cy="1071711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Non-Negative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Matrix Factorization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7286" y="1085476"/>
            <a:ext cx="6794696" cy="314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dirty="0" smtClean="0"/>
              <a:t>https://www.geeksforgeeks.org/machine-learning/non-negative-matrix-factorization/</a:t>
            </a:r>
            <a:endParaRPr lang="zh-TW" altLang="en-US" sz="1400" b="1" dirty="0"/>
          </a:p>
        </p:txBody>
      </p:sp>
      <p:sp>
        <p:nvSpPr>
          <p:cNvPr id="8" name="矩形 7"/>
          <p:cNvSpPr/>
          <p:nvPr/>
        </p:nvSpPr>
        <p:spPr>
          <a:xfrm>
            <a:off x="400930" y="6278100"/>
            <a:ext cx="7019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https://en.wikipedia.org/wiki/Non-negative_matrix_factorization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6617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457" y="1942421"/>
            <a:ext cx="7742579" cy="39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84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6281" y="83772"/>
            <a:ext cx="5441559" cy="1093647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NMF </a:t>
            </a:r>
            <a:r>
              <a:rPr lang="zh-TW" altLang="en-US" sz="3600" dirty="0"/>
              <a:t>實戰：圖像特徵</a:t>
            </a:r>
            <a:r>
              <a:rPr lang="zh-TW" altLang="en-US" sz="3600" dirty="0" smtClean="0"/>
              <a:t>提取</a:t>
            </a:r>
            <a:r>
              <a:rPr lang="en-US" altLang="zh-TW" sz="3600" dirty="0" smtClean="0"/>
              <a:t/>
            </a:r>
            <a:br>
              <a:rPr lang="en-US" altLang="zh-TW" sz="3600" dirty="0" smtClean="0"/>
            </a:br>
            <a:r>
              <a:rPr lang="zh-TW" altLang="en-US" sz="3600" dirty="0" smtClean="0"/>
              <a:t> </a:t>
            </a:r>
            <a:r>
              <a:rPr lang="en-US" altLang="zh-TW" sz="3600" dirty="0"/>
              <a:t>(Image Feature Extraction)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288" y="3893005"/>
            <a:ext cx="3596952" cy="257883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72" y="1227260"/>
            <a:ext cx="3589829" cy="257288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570" y="3953483"/>
            <a:ext cx="3426131" cy="245787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2333" y="1359538"/>
            <a:ext cx="4954485" cy="230832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600" dirty="0" smtClean="0"/>
              <a:t>實驗目標</a:t>
            </a:r>
            <a:r>
              <a:rPr lang="en-US" altLang="zh-TW" sz="1600" dirty="0" smtClean="0"/>
              <a:t>:</a:t>
            </a:r>
            <a:r>
              <a:rPr lang="zh-TW" altLang="en-US" sz="1600" dirty="0" smtClean="0"/>
              <a:t>希望電腦能自動從數百張人臉照片中，學會構成「人臉」的基本元素。</a:t>
            </a:r>
            <a:endParaRPr lang="en-US" altLang="zh-TW" sz="1600" dirty="0" smtClean="0"/>
          </a:p>
          <a:p>
            <a:endParaRPr lang="en-US" altLang="zh-TW" sz="1600" dirty="0" smtClean="0"/>
          </a:p>
          <a:p>
            <a:r>
              <a:rPr lang="en-US" altLang="zh-TW" sz="1600" dirty="0" smtClean="0"/>
              <a:t>PCA </a:t>
            </a:r>
            <a:r>
              <a:rPr lang="zh-TW" altLang="en-US" sz="1600" dirty="0" smtClean="0"/>
              <a:t>的結果：通常會學到「整體臉型」的變異（例如：一張模糊的平均臉），特徵看起來像「鬼影」。</a:t>
            </a:r>
            <a:endParaRPr lang="en-US" altLang="zh-TW" sz="1600" dirty="0" smtClean="0"/>
          </a:p>
          <a:p>
            <a:endParaRPr lang="en-US" altLang="zh-TW" sz="1600" dirty="0" smtClean="0"/>
          </a:p>
          <a:p>
            <a:r>
              <a:rPr lang="en-US" altLang="zh-TW" sz="1600" dirty="0" smtClean="0"/>
              <a:t>NMF </a:t>
            </a:r>
            <a:r>
              <a:rPr lang="zh-TW" altLang="en-US" sz="1600" dirty="0" smtClean="0"/>
              <a:t>的結果：通常會學到「局部器官」（例如：單獨的鼻子、眼睛、嘴巴、或是某個角度的光影），因為它必須透過疊加 </a:t>
            </a:r>
            <a:r>
              <a:rPr lang="en-US" altLang="zh-TW" sz="1600" dirty="0" smtClean="0"/>
              <a:t>(Add) </a:t>
            </a:r>
            <a:r>
              <a:rPr lang="zh-TW" altLang="en-US" sz="1600" dirty="0" smtClean="0"/>
              <a:t>這些部分來還原原圖。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2529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1" y="79425"/>
            <a:ext cx="4303144" cy="308580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34" y="79425"/>
            <a:ext cx="4303144" cy="308580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4442" y="3468515"/>
            <a:ext cx="836193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視覺效果：看起來像是一張張模糊、甚至有點恐怖的「鬼臉」。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數學意義：每個像素有正有負（在灰階圖中，負值通常顯示為黑色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深色，正值為白色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亮色）。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解釋：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PCA 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試圖捕捉圖像變異最大的方向。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例如，第一主成分可能代表「整張臉的平均亮度」，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第二主成分可能代表「臉的左右轉向」。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它是從整體 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(Global) 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角度去理解圖片。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6254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472" y="3189756"/>
            <a:ext cx="7155742" cy="34712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441" y="330208"/>
            <a:ext cx="3664817" cy="26291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1" y="296716"/>
            <a:ext cx="3760506" cy="2696092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4199022" y="1406769"/>
            <a:ext cx="710419" cy="5767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333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21" y="114587"/>
            <a:ext cx="8208692" cy="257937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21" y="2846843"/>
            <a:ext cx="7851741" cy="30477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50166" y="5955998"/>
            <a:ext cx="5662246" cy="646331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smtClean="0"/>
              <a:t>The Why and How of Nonnegative Matrix Factorization</a:t>
            </a:r>
          </a:p>
          <a:p>
            <a:r>
              <a:rPr lang="en-US" altLang="zh-TW" dirty="0" smtClean="0"/>
              <a:t>https://arxiv.org/abs/1401.5226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7023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62890" y="2281519"/>
          <a:ext cx="8740434" cy="2377440"/>
        </p:xfrm>
        <a:graphic>
          <a:graphicData uri="http://schemas.openxmlformats.org/drawingml/2006/table">
            <a:tbl>
              <a:tblPr/>
              <a:tblGrid>
                <a:gridCol w="1439301">
                  <a:extLst>
                    <a:ext uri="{9D8B030D-6E8A-4147-A177-3AD203B41FA5}">
                      <a16:colId xmlns:a16="http://schemas.microsoft.com/office/drawing/2014/main" val="4013750626"/>
                    </a:ext>
                  </a:extLst>
                </a:gridCol>
                <a:gridCol w="3727939">
                  <a:extLst>
                    <a:ext uri="{9D8B030D-6E8A-4147-A177-3AD203B41FA5}">
                      <a16:colId xmlns:a16="http://schemas.microsoft.com/office/drawing/2014/main" val="776895642"/>
                    </a:ext>
                  </a:extLst>
                </a:gridCol>
                <a:gridCol w="3573194">
                  <a:extLst>
                    <a:ext uri="{9D8B030D-6E8A-4147-A177-3AD203B41FA5}">
                      <a16:colId xmlns:a16="http://schemas.microsoft.com/office/drawing/2014/main" val="2741387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特性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PCA (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主成分分析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TW" altLang="en-US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NMF (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非負矩陣分解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zh-TW" altLang="en-US" b="1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70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數值限制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可以包含正負值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嚴格限制為非負值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($\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0$)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162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特徵解釋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整體特徵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(Global)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，較難直觀理解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局部特徵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Local)，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具有物理意義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19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正交性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特徵向量互相正交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通常不正交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除非加入額外限制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012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數據適用性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任何數值數據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僅適用於非負數據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如文本計數、圖像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268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運算邏輯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線性變換、旋轉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加法組合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61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7256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8650" y="2675414"/>
          <a:ext cx="7886700" cy="265176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05071628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4118665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應用領域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說明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96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📄 </a:t>
                      </a:r>
                      <a:r>
                        <a:rPr lang="zh-TW" altLang="en-US" b="1" dirty="0"/>
                        <a:t>主題模型 </a:t>
                      </a:r>
                      <a:r>
                        <a:rPr lang="en-US" altLang="zh-TW" b="1" dirty="0"/>
                        <a:t>(</a:t>
                      </a:r>
                      <a:r>
                        <a:rPr lang="en-US" b="1" dirty="0"/>
                        <a:t>Topic Modeling)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 </a:t>
                      </a:r>
                      <a:r>
                        <a:rPr lang="en-US" altLang="zh-TW" dirty="0"/>
                        <a:t>NLP </a:t>
                      </a:r>
                      <a:r>
                        <a:rPr lang="zh-TW" altLang="en-US" dirty="0"/>
                        <a:t>中將文件詞頻矩陣 </a:t>
                      </a:r>
                      <a:r>
                        <a:rPr lang="en-US" altLang="zh-TW" dirty="0"/>
                        <a:t>( V ) </a:t>
                      </a:r>
                      <a:r>
                        <a:rPr lang="zh-TW" altLang="en-US" dirty="0"/>
                        <a:t>分解為 </a:t>
                      </a:r>
                      <a:r>
                        <a:rPr lang="en-US" altLang="zh-TW" dirty="0"/>
                        <a:t>( W, H )</a:t>
                      </a:r>
                      <a:r>
                        <a:rPr lang="zh-TW" altLang="en-US" dirty="0"/>
                        <a:t>，得到主題分佈。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0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🖼 </a:t>
                      </a:r>
                      <a:r>
                        <a:rPr lang="zh-TW" altLang="en-US" b="1"/>
                        <a:t>影像分解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Image Decomposition)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將影像像素矩陣分解成若干「基底影像」，可作為壓縮或特徵擷取。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43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🎵 </a:t>
                      </a:r>
                      <a:r>
                        <a:rPr lang="zh-TW" altLang="en-US" b="1"/>
                        <a:t>音訊來源分離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Source Separation)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分離音樂中不同樂器的頻譜成分。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97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🧮 </a:t>
                      </a:r>
                      <a:r>
                        <a:rPr lang="zh-TW" altLang="en-US" b="1"/>
                        <a:t>推薦系統 </a:t>
                      </a:r>
                      <a:r>
                        <a:rPr lang="en-US" altLang="zh-TW" b="1"/>
                        <a:t>(</a:t>
                      </a:r>
                      <a:r>
                        <a:rPr lang="en-US" b="1"/>
                        <a:t>Recommendation Systems)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 </a:t>
                      </a:r>
                      <a:r>
                        <a:rPr lang="en-US" altLang="zh-TW" dirty="0"/>
                        <a:t>NMF </a:t>
                      </a:r>
                      <a:r>
                        <a:rPr lang="zh-TW" altLang="en-US" dirty="0"/>
                        <a:t>分解「使用者 </a:t>
                      </a:r>
                      <a:r>
                        <a:rPr lang="en-US" altLang="zh-TW" dirty="0"/>
                        <a:t>× </a:t>
                      </a:r>
                      <a:r>
                        <a:rPr lang="zh-TW" altLang="en-US" dirty="0"/>
                        <a:t>物品」矩陣，找出潛在偏好特徵。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87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056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363154"/>
              </p:ext>
            </p:extLst>
          </p:nvPr>
        </p:nvGraphicFramePr>
        <p:xfrm>
          <a:off x="194603" y="173111"/>
          <a:ext cx="8738382" cy="65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46">
                  <a:extLst>
                    <a:ext uri="{9D8B030D-6E8A-4147-A177-3AD203B41FA5}">
                      <a16:colId xmlns:a16="http://schemas.microsoft.com/office/drawing/2014/main" val="1338948802"/>
                    </a:ext>
                  </a:extLst>
                </a:gridCol>
                <a:gridCol w="400929">
                  <a:extLst>
                    <a:ext uri="{9D8B030D-6E8A-4147-A177-3AD203B41FA5}">
                      <a16:colId xmlns:a16="http://schemas.microsoft.com/office/drawing/2014/main" val="3053064267"/>
                    </a:ext>
                  </a:extLst>
                </a:gridCol>
                <a:gridCol w="7856807">
                  <a:extLst>
                    <a:ext uri="{9D8B030D-6E8A-4147-A177-3AD203B41FA5}">
                      <a16:colId xmlns:a16="http://schemas.microsoft.com/office/drawing/2014/main" val="234030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在執行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NMF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   </a:t>
                      </a:r>
                      <a:endParaRPr lang="en-US" altLang="zh-TW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時，使用者通常需要自己設定一個最重要的參數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，請問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代表什麼？</a:t>
                      </a:r>
                      <a:endParaRPr lang="en-US" altLang="zh-TW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(A)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迭代的次數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(B)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學習率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(Learning Rate)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(C)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想要提取的潛在特徵數量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(Rank)</a:t>
                      </a:r>
                      <a:r>
                        <a:rPr lang="en-US" altLang="zh-TW" b="0" baseline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(D)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數據的筆數</a:t>
                      </a:r>
                      <a:endParaRPr lang="en-US" altLang="zh-TW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0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假設原始矩陣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的大小是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100*50 (100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列，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，我們設定特徵數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(Rank) k = 5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。請問分解出來的矩陣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的大小應該是多少？</a:t>
                      </a:r>
                    </a:p>
                    <a:p>
                      <a:pPr marL="342900" indent="-342900">
                        <a:buAutoNum type="alphaUcParenBoth"/>
                      </a:pP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* 100</a:t>
                      </a:r>
                      <a:r>
                        <a:rPr lang="en-US" altLang="zh-TW" b="0" baseline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(B) 50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(C)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50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(D) 100 </a:t>
                      </a:r>
                      <a:r>
                        <a:rPr lang="zh-TW" altLang="en-US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5</a:t>
                      </a:r>
                    </a:p>
                    <a:p>
                      <a:pPr marL="0" indent="0">
                        <a:buNone/>
                      </a:pPr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06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下列哪一種資料類型不適合直接作為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NMF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的輸入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原始矩陣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V)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？</a:t>
                      </a:r>
                    </a:p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(A)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圖片的像素亮度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(0 ~ 255)</a:t>
                      </a:r>
                    </a:p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(B)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文章中的單字出現次數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詞頻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(C)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股票每日的漲跌幅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包含正數與負數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(D)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網站的點擊次數</a:t>
                      </a:r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altLang="zh-TW" sz="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90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在非負矩陣分解 </a:t>
                      </a:r>
                      <a:r>
                        <a:rPr lang="en-US" altLang="zh-TW" dirty="0" smtClean="0"/>
                        <a:t>(NMF) </a:t>
                      </a:r>
                      <a:r>
                        <a:rPr lang="zh-TW" altLang="en-US" dirty="0" smtClean="0"/>
                        <a:t>中，對於分解出來的兩個矩陣 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zh-TW" altLang="en-US" dirty="0" smtClean="0"/>
                        <a:t> 和 </a:t>
                      </a:r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zh-TW" altLang="en-US" dirty="0" smtClean="0"/>
                        <a:t>，最核心的數學限制條件是什麼？ </a:t>
                      </a:r>
                      <a:r>
                        <a:rPr lang="en-US" altLang="zh-TW" dirty="0" smtClean="0"/>
                        <a:t>(A) </a:t>
                      </a:r>
                      <a:r>
                        <a:rPr lang="zh-TW" altLang="en-US" dirty="0" smtClean="0"/>
                        <a:t>所有元素都必須是整數 </a:t>
                      </a:r>
                      <a:r>
                        <a:rPr lang="en-US" altLang="zh-TW" dirty="0" smtClean="0"/>
                        <a:t>(B) </a:t>
                      </a:r>
                      <a:r>
                        <a:rPr lang="zh-TW" altLang="en-US" dirty="0" smtClean="0"/>
                        <a:t>所有元素都必須大於或等於 </a:t>
                      </a:r>
                      <a:r>
                        <a:rPr lang="en-US" altLang="zh-TW" dirty="0" smtClean="0"/>
                        <a:t>0 (</a:t>
                      </a:r>
                      <a:r>
                        <a:rPr lang="zh-TW" altLang="en-US" dirty="0" smtClean="0"/>
                        <a:t>非負</a:t>
                      </a:r>
                      <a:r>
                        <a:rPr lang="en-US" altLang="zh-TW" dirty="0" smtClean="0"/>
                        <a:t>) (C) </a:t>
                      </a:r>
                      <a:r>
                        <a:rPr lang="zh-TW" altLang="en-US" dirty="0" smtClean="0"/>
                        <a:t>所有元素都必須互相正交 </a:t>
                      </a:r>
                      <a:r>
                        <a:rPr lang="en-US" altLang="zh-TW" dirty="0" smtClean="0"/>
                        <a:t>(D) </a:t>
                      </a:r>
                      <a:r>
                        <a:rPr lang="zh-TW" altLang="en-US" dirty="0" smtClean="0"/>
                        <a:t>所有元素的總和必須為 </a:t>
                      </a:r>
                      <a:r>
                        <a:rPr lang="en-US" altLang="zh-TW" dirty="0" smtClean="0"/>
                        <a:t>1</a:t>
                      </a:r>
                    </a:p>
                    <a:p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22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如果我們用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NMF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來分析人臉資料庫，分解出來的「基底圖像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(Basis Images)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」看起來通常像什麼？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(A)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一張完整的模糊人臉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(B)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臉部的器官零件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如單獨的鼻子、眼睛、嘴巴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) (C)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全黑的圖片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(D) </a:t>
                      </a:r>
                      <a:r>
                        <a:rPr lang="zh-TW" altLang="en-US" dirty="0" smtClean="0">
                          <a:solidFill>
                            <a:schemeClr val="tx1"/>
                          </a:solidFill>
                        </a:rPr>
                        <a:t>雜訊雜點</a:t>
                      </a:r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zh-TW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2166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283" y="469968"/>
            <a:ext cx="2236350" cy="65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638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53864"/>
              </p:ext>
            </p:extLst>
          </p:nvPr>
        </p:nvGraphicFramePr>
        <p:xfrm>
          <a:off x="194603" y="173111"/>
          <a:ext cx="8738382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46">
                  <a:extLst>
                    <a:ext uri="{9D8B030D-6E8A-4147-A177-3AD203B41FA5}">
                      <a16:colId xmlns:a16="http://schemas.microsoft.com/office/drawing/2014/main" val="1338948802"/>
                    </a:ext>
                  </a:extLst>
                </a:gridCol>
                <a:gridCol w="400929">
                  <a:extLst>
                    <a:ext uri="{9D8B030D-6E8A-4147-A177-3AD203B41FA5}">
                      <a16:colId xmlns:a16="http://schemas.microsoft.com/office/drawing/2014/main" val="3053064267"/>
                    </a:ext>
                  </a:extLst>
                </a:gridCol>
                <a:gridCol w="7856807">
                  <a:extLst>
                    <a:ext uri="{9D8B030D-6E8A-4147-A177-3AD203B41FA5}">
                      <a16:colId xmlns:a16="http://schemas.microsoft.com/office/drawing/2014/main" val="234030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某大型電商公司的數據分析團隊正在處理一份龐大的年度銷售數據，該矩陣的每一列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(Row)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代表一位不重複的會員，每一行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(Column)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則代表一種商品類別，矩陣中的數值為該會員購買該商品的「次數」。團隊首先嘗試使用主成分分析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(PCA)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來進行降維，希望找出潛在的消費模式。然而，當他們檢視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PCA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跑出來的特徵向量（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Eigenvectors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）時，發現了一個嚴重的解釋性問題：某些特徵係數出現了「負值」。在商業邏輯上，告訴行銷部門「這位客戶是由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-5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3C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產品偏好 和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+3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個美妝偏好組成」是非常難以理解且違反物理意義的，因為購買次數不可能是負數。為了讓分解出的特徵具有「部分構成整體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(Parts-based)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」的直觀物理意義，且強制所有特徵係數皆為非負數，請問分析師應該改用下列哪一種演算法？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(A)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奇異值分解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(SVD)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獨立成分分析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(ICA)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(C)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非負矩陣分解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(NMF)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(D)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線性判別分析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(LDA)</a:t>
                      </a:r>
                    </a:p>
                    <a:p>
                      <a:endParaRPr lang="zh-TW" altLang="en-US" sz="8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70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間安防科技公司正在開發一套新的人臉辨識系統，研發工程師希望模型能夠自動學習人臉的局部特徵，以便在使用者戴口罩或墨鏡時，系統仍能透過辨識露出的部分（如眼睛、眉毛或額頭）來進行輔助判斷。工程師比較了兩種降維算法的效果：算法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產生的特徵圖像是完整的、類似幽靈般的模糊人臉（</a:t>
                      </a:r>
                      <a:r>
                        <a:rPr lang="en-US" altLang="zh-TW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Eigenfaces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），這代表它捕捉的是整體變異；而算法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產生的特徵圖像則大部分是黑色的，只有局部區域（如一個鼻子、一張嘴巴或左側光影）是亮起的。由於算法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的數學特性限制了矩陣元素不能相減，只能透過「疊加」不同的局部特徵來還原原始圖像，這正符合工程師對於「局部特徵學習」的需求。請問算法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最有可能是指下列何者？</a:t>
                      </a:r>
                    </a:p>
                    <a:p>
                      <a:r>
                        <a:rPr lang="zh-TW" alt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選項：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(A)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主成分分析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(Principal Component Analysis) (B)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非負矩陣分解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(Non-negative Matrix Decomposition) (C) </a:t>
                      </a:r>
                      <a:r>
                        <a:rPr lang="zh-TW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核心主成分分析 </a:t>
                      </a:r>
                      <a:r>
                        <a:rPr lang="en-US" altLang="zh-TW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(Kernel PCA) (D) t-SNE (t-Distributed Stochastic Neighbor Embedding)</a:t>
                      </a:r>
                    </a:p>
                    <a:p>
                      <a:endParaRPr lang="en-US" altLang="zh-TW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068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515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3964" y="239150"/>
            <a:ext cx="3995919" cy="790357"/>
          </a:xfrm>
        </p:spPr>
        <p:txBody>
          <a:bodyPr/>
          <a:lstStyle/>
          <a:p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Cholesky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分解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497" y="2161956"/>
            <a:ext cx="6129749" cy="340114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47" y="1319283"/>
            <a:ext cx="5261134" cy="102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5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2276</TotalTime>
  <Words>2558</Words>
  <Application>Microsoft Office PowerPoint</Application>
  <PresentationFormat>如螢幕大小 (4:3)</PresentationFormat>
  <Paragraphs>325</Paragraphs>
  <Slides>51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3" baseType="lpstr">
      <vt:lpstr>-apple-system</vt:lpstr>
      <vt:lpstr>等线</vt:lpstr>
      <vt:lpstr>Google Sans Text</vt:lpstr>
      <vt:lpstr>微軟正黑體</vt:lpstr>
      <vt:lpstr>新細明體</vt:lpstr>
      <vt:lpstr>標楷體</vt:lpstr>
      <vt:lpstr>Arial</vt:lpstr>
      <vt:lpstr>Calibri</vt:lpstr>
      <vt:lpstr>Calibri Light</vt:lpstr>
      <vt:lpstr>Cambria Math</vt:lpstr>
      <vt:lpstr>Wingdings</vt:lpstr>
      <vt:lpstr>Office 佈景主題</vt:lpstr>
      <vt:lpstr>線性代數與機器學習</vt:lpstr>
      <vt:lpstr>PowerPoint 簡報</vt:lpstr>
      <vt:lpstr>線性代數常用工具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線性代數主題</vt:lpstr>
      <vt:lpstr>Orthogonal Basis(正交基底)</vt:lpstr>
      <vt:lpstr>PowerPoint 簡報</vt:lpstr>
      <vt:lpstr>矩陣運算 (Matrix Operations)</vt:lpstr>
      <vt:lpstr>PowerPoint 簡報</vt:lpstr>
      <vt:lpstr>PowerPoint 簡報</vt:lpstr>
      <vt:lpstr>CNN與矩陣運算</vt:lpstr>
      <vt:lpstr>線性方程式與非線性方程式</vt:lpstr>
      <vt:lpstr>解線性方程組  == &gt;矩陣型式</vt:lpstr>
      <vt:lpstr>線性方程組解的參數形式</vt:lpstr>
      <vt:lpstr>特徵值(eigenvalue)與特徵向量 (eigenvector)</vt:lpstr>
      <vt:lpstr>求特徵值(eigenvalue)與特徵向量 (eigenvector)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特徵分解(Eigen­decomposition)</vt:lpstr>
      <vt:lpstr>PowerPoint 簡報</vt:lpstr>
      <vt:lpstr>奇異值分解 (Singular Value Decomposition, SVD)</vt:lpstr>
      <vt:lpstr>PowerPoint 簡報</vt:lpstr>
      <vt:lpstr>PowerPoint 簡報</vt:lpstr>
      <vt:lpstr>PowerPoint 簡報</vt:lpstr>
      <vt:lpstr>PowerPoint 簡報</vt:lpstr>
      <vt:lpstr>PowerPoint 簡報</vt:lpstr>
      <vt:lpstr>PCA 的推導 (最大化變異量法)</vt:lpstr>
      <vt:lpstr>使用拉格朗日乘數法(Lagrange Multipliers)</vt:lpstr>
      <vt:lpstr>SVD</vt:lpstr>
      <vt:lpstr>SVD與PCA</vt:lpstr>
      <vt:lpstr>PowerPoint 簡報</vt:lpstr>
      <vt:lpstr>Non-Negative Matrix Factorization</vt:lpstr>
      <vt:lpstr>PowerPoint 簡報</vt:lpstr>
      <vt:lpstr>NMF 實戰：圖像特徵提取  (Image Feature Extraction)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Cholesky分解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30</cp:revision>
  <dcterms:created xsi:type="dcterms:W3CDTF">2025-11-21T06:03:43Z</dcterms:created>
  <dcterms:modified xsi:type="dcterms:W3CDTF">2025-11-24T22:01:37Z</dcterms:modified>
</cp:coreProperties>
</file>